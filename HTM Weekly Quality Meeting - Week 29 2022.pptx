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7" r:id="rId1"/>
  </p:sldMasterIdLst>
  <p:notesMasterIdLst>
    <p:notesMasterId r:id="rId10"/>
  </p:notesMasterIdLst>
  <p:sldIdLst>
    <p:sldId id="843" r:id="rId2"/>
    <p:sldId id="888" r:id="rId3"/>
    <p:sldId id="876" r:id="rId4"/>
    <p:sldId id="885" r:id="rId5"/>
    <p:sldId id="895" r:id="rId6"/>
    <p:sldId id="894" r:id="rId7"/>
    <p:sldId id="883" r:id="rId8"/>
    <p:sldId id="849" r:id="rId9"/>
  </p:sldIdLst>
  <p:sldSz cx="9144000" cy="6858000" type="screen4x3"/>
  <p:notesSz cx="10018713" cy="6889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BEE78B-EDB8-4495-8C92-854291221DE1}">
          <p14:sldIdLst>
            <p14:sldId id="843"/>
            <p14:sldId id="888"/>
            <p14:sldId id="876"/>
            <p14:sldId id="885"/>
            <p14:sldId id="895"/>
            <p14:sldId id="894"/>
            <p14:sldId id="883"/>
            <p14:sldId id="8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ujiono ." initials="P." lastIdx="1" clrIdx="0">
    <p:extLst>
      <p:ext uri="{19B8F6BF-5375-455C-9EA6-DF929625EA0E}">
        <p15:presenceInfo xmlns:p15="http://schemas.microsoft.com/office/powerpoint/2012/main" userId="d4985d419da6071c" providerId="Windows Live"/>
      </p:ext>
    </p:extLst>
  </p:cmAuthor>
  <p:cmAuthor id="2" name="Nanang ." initials="N." lastIdx="1" clrIdx="1">
    <p:extLst>
      <p:ext uri="{19B8F6BF-5375-455C-9EA6-DF929625EA0E}">
        <p15:presenceInfo xmlns:p15="http://schemas.microsoft.com/office/powerpoint/2012/main" userId="d6ced5c7e4c265d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4472C4"/>
    <a:srgbClr val="0070C0"/>
    <a:srgbClr val="FFFF99"/>
    <a:srgbClr val="FDBC24"/>
    <a:srgbClr val="FEBC27"/>
    <a:srgbClr val="E9EBF5"/>
    <a:srgbClr val="E7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5915" autoAdjust="0"/>
  </p:normalViewPr>
  <p:slideViewPr>
    <p:cSldViewPr>
      <p:cViewPr varScale="1">
        <p:scale>
          <a:sx n="63" d="100"/>
          <a:sy n="63" d="100"/>
        </p:scale>
        <p:origin x="144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41441" cy="346082"/>
          </a:xfrm>
          <a:prstGeom prst="rect">
            <a:avLst/>
          </a:prstGeom>
        </p:spPr>
        <p:txBody>
          <a:bodyPr vert="horz" lIns="94209" tIns="47104" rIns="94209" bIns="47104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75535" y="0"/>
            <a:ext cx="4341441" cy="346082"/>
          </a:xfrm>
          <a:prstGeom prst="rect">
            <a:avLst/>
          </a:prstGeom>
        </p:spPr>
        <p:txBody>
          <a:bodyPr vert="horz" lIns="94209" tIns="47104" rIns="94209" bIns="47104" rtlCol="0"/>
          <a:lstStyle>
            <a:lvl1pPr algn="r">
              <a:defRPr sz="1200"/>
            </a:lvl1pPr>
          </a:lstStyle>
          <a:p>
            <a:fld id="{B70FDF99-FAE9-410A-B17F-F4565689A056}" type="datetimeFigureOut">
              <a:rPr lang="en-ID" smtClean="0"/>
              <a:t>05/01/2023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57575" y="860425"/>
            <a:ext cx="3103563" cy="2327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09" tIns="47104" rIns="94209" bIns="47104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1873" y="3315695"/>
            <a:ext cx="8014970" cy="2712839"/>
          </a:xfrm>
          <a:prstGeom prst="rect">
            <a:avLst/>
          </a:prstGeom>
        </p:spPr>
        <p:txBody>
          <a:bodyPr vert="horz" lIns="94209" tIns="47104" rIns="94209" bIns="4710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6543670"/>
            <a:ext cx="4341441" cy="346081"/>
          </a:xfrm>
          <a:prstGeom prst="rect">
            <a:avLst/>
          </a:prstGeom>
        </p:spPr>
        <p:txBody>
          <a:bodyPr vert="horz" lIns="94209" tIns="47104" rIns="94209" bIns="47104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75535" y="6543670"/>
            <a:ext cx="4341441" cy="346081"/>
          </a:xfrm>
          <a:prstGeom prst="rect">
            <a:avLst/>
          </a:prstGeom>
        </p:spPr>
        <p:txBody>
          <a:bodyPr vert="horz" lIns="94209" tIns="47104" rIns="94209" bIns="47104" rtlCol="0" anchor="b"/>
          <a:lstStyle>
            <a:lvl1pPr algn="r">
              <a:defRPr sz="1200"/>
            </a:lvl1pPr>
          </a:lstStyle>
          <a:p>
            <a:fld id="{F60F59C3-8CE5-4A1D-BF93-9742217FDB3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3402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F59C3-8CE5-4A1D-BF93-9742217FDB39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9902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F59C3-8CE5-4A1D-BF93-9742217FDB39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6713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F59C3-8CE5-4A1D-BF93-9742217FDB39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7875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F59C3-8CE5-4A1D-BF93-9742217FDB39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134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F59C3-8CE5-4A1D-BF93-9742217FDB39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8138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F59C3-8CE5-4A1D-BF93-9742217FDB39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570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signature_188012787">
            <a:extLst>
              <a:ext uri="{FF2B5EF4-FFF2-40B4-BE49-F238E27FC236}">
                <a16:creationId xmlns:a16="http://schemas.microsoft.com/office/drawing/2014/main" id="{BC85B9E2-1B44-44FE-917F-8A77E96D89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498" y="30968"/>
            <a:ext cx="4485100" cy="775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2A1EE2-C855-4BE3-84F2-468B2C2187F8}"/>
              </a:ext>
            </a:extLst>
          </p:cNvPr>
          <p:cNvCxnSpPr/>
          <p:nvPr userDrawn="1"/>
        </p:nvCxnSpPr>
        <p:spPr>
          <a:xfrm>
            <a:off x="177698" y="806769"/>
            <a:ext cx="873770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D00053-F338-4353-8B0D-3BE0773997AC}"/>
              </a:ext>
            </a:extLst>
          </p:cNvPr>
          <p:cNvGrpSpPr/>
          <p:nvPr userDrawn="1"/>
        </p:nvGrpSpPr>
        <p:grpSpPr>
          <a:xfrm>
            <a:off x="0" y="897324"/>
            <a:ext cx="9144000" cy="1198176"/>
            <a:chOff x="1" y="1011624"/>
            <a:chExt cx="9143998" cy="120414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47FE0D-E692-4EF5-B7E0-48F3F17F2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" y="1048341"/>
              <a:ext cx="3781488" cy="116742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1937EBF-3B44-40A1-98B3-ABF925C7F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81489" y="1048340"/>
              <a:ext cx="1167427" cy="116742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71AC33D-A789-49C0-BE8E-0E96C7FB3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76572" y="1048340"/>
              <a:ext cx="1167427" cy="116742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7B20BFC-FE0A-4526-8C90-09BB1350B7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9882"/>
            <a:stretch/>
          </p:blipFill>
          <p:spPr>
            <a:xfrm>
              <a:off x="4942943" y="1011624"/>
              <a:ext cx="1752601" cy="1204143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EC7CF8-972E-4F55-B2BD-8D6D03DD1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95544" y="1048340"/>
              <a:ext cx="1281027" cy="1167427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1BF7DA-FF43-4132-BFB4-C54263D7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D3A75-3842-44AC-8732-1B4F4B10DEA8}" type="datetime4">
              <a:rPr lang="en-US" smtClean="0"/>
              <a:t>January 5,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EDE13-E1F2-4C5F-AEE5-66A1BAC27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9C835-D0FC-46C0-AA21-1CC2FB23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91CF-5CAD-4B3A-99D6-018761873B7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9BF48B-062D-4880-9D07-CC88B5A66F2C}"/>
              </a:ext>
            </a:extLst>
          </p:cNvPr>
          <p:cNvCxnSpPr/>
          <p:nvPr userDrawn="1"/>
        </p:nvCxnSpPr>
        <p:spPr>
          <a:xfrm>
            <a:off x="203149" y="6356350"/>
            <a:ext cx="873770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12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signature_188012787">
            <a:extLst>
              <a:ext uri="{FF2B5EF4-FFF2-40B4-BE49-F238E27FC236}">
                <a16:creationId xmlns:a16="http://schemas.microsoft.com/office/drawing/2014/main" id="{E3E8D360-DA17-4B2A-BA3A-732188E67A1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r="81312" b="1778"/>
          <a:stretch/>
        </p:blipFill>
        <p:spPr bwMode="auto">
          <a:xfrm>
            <a:off x="8346017" y="38100"/>
            <a:ext cx="628649" cy="57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2CAF79-05FC-4A68-8EB9-F06504D74C92}"/>
              </a:ext>
            </a:extLst>
          </p:cNvPr>
          <p:cNvCxnSpPr/>
          <p:nvPr userDrawn="1"/>
        </p:nvCxnSpPr>
        <p:spPr>
          <a:xfrm>
            <a:off x="228497" y="685800"/>
            <a:ext cx="873770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3C859FB-1234-4670-8B41-9289DFF4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3C7D45-A5E0-463D-94D3-74B02C0538D0}" type="datetime4">
              <a:rPr lang="en-US" smtClean="0"/>
              <a:t>January 5, 2023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DC0FDA4-FE23-4B74-97E6-68A920AC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B93DB50-0BBD-4381-8A75-70F709AC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CF891CF-5CAD-4B3A-99D6-018761873B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358FB7-D460-4464-8B22-545AB5493D2C}"/>
              </a:ext>
            </a:extLst>
          </p:cNvPr>
          <p:cNvCxnSpPr/>
          <p:nvPr userDrawn="1"/>
        </p:nvCxnSpPr>
        <p:spPr>
          <a:xfrm>
            <a:off x="203149" y="6356350"/>
            <a:ext cx="873770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19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signature_188012787">
            <a:extLst>
              <a:ext uri="{FF2B5EF4-FFF2-40B4-BE49-F238E27FC236}">
                <a16:creationId xmlns:a16="http://schemas.microsoft.com/office/drawing/2014/main" id="{E3E8D360-DA17-4B2A-BA3A-732188E67A1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r="81312" b="1778"/>
          <a:stretch/>
        </p:blipFill>
        <p:spPr bwMode="auto">
          <a:xfrm>
            <a:off x="8346017" y="38100"/>
            <a:ext cx="628649" cy="57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2CAF79-05FC-4A68-8EB9-F06504D74C92}"/>
              </a:ext>
            </a:extLst>
          </p:cNvPr>
          <p:cNvCxnSpPr/>
          <p:nvPr userDrawn="1"/>
        </p:nvCxnSpPr>
        <p:spPr>
          <a:xfrm>
            <a:off x="228497" y="685800"/>
            <a:ext cx="873770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3C859FB-1234-4670-8B41-9289DFF4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3C7D45-A5E0-463D-94D3-74B02C0538D0}" type="datetime4">
              <a:rPr lang="en-US" smtClean="0"/>
              <a:t>January 5, 2023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DC0FDA4-FE23-4B74-97E6-68A920AC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B93DB50-0BBD-4381-8A75-70F709AC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CF891CF-5CAD-4B3A-99D6-018761873B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358FB7-D460-4464-8B22-545AB5493D2C}"/>
              </a:ext>
            </a:extLst>
          </p:cNvPr>
          <p:cNvCxnSpPr/>
          <p:nvPr userDrawn="1"/>
        </p:nvCxnSpPr>
        <p:spPr>
          <a:xfrm>
            <a:off x="203149" y="6356350"/>
            <a:ext cx="873770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Sebuah gambar berisi orang, luar ruangan, pria&#10;&#10;Description automatically generated">
            <a:extLst>
              <a:ext uri="{FF2B5EF4-FFF2-40B4-BE49-F238E27FC236}">
                <a16:creationId xmlns:a16="http://schemas.microsoft.com/office/drawing/2014/main" id="{A3A8E946-26F0-42C5-8C07-3B5F9DF50E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625" b="13389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0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50DAC-2699-4841-AEB4-D393E8B9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5D8F-3B83-49C5-80D3-90C9C9BC6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Click to edit Master text styles</a:t>
            </a:r>
          </a:p>
          <a:p>
            <a:pPr lvl="1"/>
            <a:r>
              <a:rPr lang="id-ID"/>
              <a:t>Second level</a:t>
            </a:r>
          </a:p>
          <a:p>
            <a:pPr lvl="2"/>
            <a:r>
              <a:rPr lang="id-ID"/>
              <a:t>Third level</a:t>
            </a:r>
          </a:p>
          <a:p>
            <a:pPr lvl="3"/>
            <a:r>
              <a:rPr lang="id-ID"/>
              <a:t>Fourth level</a:t>
            </a:r>
          </a:p>
          <a:p>
            <a:pPr lvl="4"/>
            <a:r>
              <a:rPr lang="id-ID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B24B6-165E-4E9E-AAB9-72D3A26AD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DE4D5-4E0C-446D-ADEF-21A52C5946AE}" type="datetime4">
              <a:rPr lang="en-US" smtClean="0"/>
              <a:t>January 5,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25C33-B30E-44B2-A9AC-965C415E6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ROCKY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4C03E-B239-4FB7-9D3C-FBD1A8275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891CF-5CAD-4B3A-99D6-018761873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53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1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E127454B-C89A-487B-893E-9D4220F33939}"/>
              </a:ext>
            </a:extLst>
          </p:cNvPr>
          <p:cNvSpPr txBox="1"/>
          <p:nvPr/>
        </p:nvSpPr>
        <p:spPr>
          <a:xfrm>
            <a:off x="0" y="2819400"/>
            <a:ext cx="9144000" cy="2531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5400" b="1" spc="-5" dirty="0">
                <a:solidFill>
                  <a:srgbClr val="FF0000"/>
                </a:solidFill>
                <a:cs typeface="Arial"/>
              </a:rPr>
              <a:t>HTM</a:t>
            </a:r>
          </a:p>
          <a:p>
            <a:pPr marL="12700" algn="ctr">
              <a:spcBef>
                <a:spcPts val="100"/>
              </a:spcBef>
            </a:pPr>
            <a:r>
              <a:rPr lang="en-US" sz="5400" b="1" spc="-5" dirty="0">
                <a:solidFill>
                  <a:srgbClr val="0070C0"/>
                </a:solidFill>
                <a:cs typeface="Arial"/>
              </a:rPr>
              <a:t>Weekly Quality Update</a:t>
            </a:r>
          </a:p>
          <a:p>
            <a:pPr marL="12700" algn="ctr">
              <a:spcBef>
                <a:spcPts val="100"/>
              </a:spcBef>
            </a:pPr>
            <a:r>
              <a:rPr lang="en-US" sz="5400" b="1" spc="-5" dirty="0">
                <a:solidFill>
                  <a:srgbClr val="0070C0"/>
                </a:solidFill>
                <a:cs typeface="Arial"/>
              </a:rPr>
              <a:t>WEEK </a:t>
            </a:r>
            <a:r>
              <a:rPr lang="id-ID" sz="5400" b="1" spc="-5" dirty="0">
                <a:solidFill>
                  <a:srgbClr val="0070C0"/>
                </a:solidFill>
                <a:cs typeface="Arial"/>
              </a:rPr>
              <a:t>2</a:t>
            </a:r>
            <a:r>
              <a:rPr lang="en-US" sz="5400" b="1" spc="-5" dirty="0">
                <a:solidFill>
                  <a:srgbClr val="0070C0"/>
                </a:solidFill>
                <a:cs typeface="Arial"/>
              </a:rPr>
              <a:t>9, 2022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95210-6E4D-4D2A-A250-BEC50F528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8772E-145F-4F80-AE90-CB1EAD2B93F1}" type="datetime4">
              <a:rPr lang="en-US" smtClean="0"/>
              <a:t>January 5,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B4ED4-2A0C-49F9-9E48-8625D8D99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0B643-F483-4D38-9A6C-C54E2ECB6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91CF-5CAD-4B3A-99D6-018761873B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0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9A432C-EA9E-4547-BCE1-8CD7AC0A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0C0-7C35-4BAB-AC6A-F3B5403D5862}" type="datetime4">
              <a:rPr lang="en-US" smtClean="0"/>
              <a:t>January 5,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1CB49-5D45-4401-960C-512FDF0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87834-319C-4CB9-9A44-EA8E86D0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91CF-5CAD-4B3A-99D6-018761873B7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43360E2-CD48-4F35-872D-3F9FFF8A4A83}"/>
              </a:ext>
            </a:extLst>
          </p:cNvPr>
          <p:cNvSpPr txBox="1"/>
          <p:nvPr/>
        </p:nvSpPr>
        <p:spPr>
          <a:xfrm>
            <a:off x="200025" y="127789"/>
            <a:ext cx="8001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spc="-5" dirty="0">
                <a:solidFill>
                  <a:srgbClr val="0070C0"/>
                </a:solidFill>
                <a:cs typeface="Arial"/>
              </a:rPr>
              <a:t>QUALITY – RFT (Inline Inspection)*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AB4AF919-C5BE-4B67-80E9-A7585C92F4BA}"/>
              </a:ext>
            </a:extLst>
          </p:cNvPr>
          <p:cNvSpPr txBox="1"/>
          <p:nvPr/>
        </p:nvSpPr>
        <p:spPr>
          <a:xfrm>
            <a:off x="165735" y="5943600"/>
            <a:ext cx="80010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100" spc="-5" dirty="0">
                <a:solidFill>
                  <a:srgbClr val="0070C0"/>
                </a:solidFill>
                <a:latin typeface="+mj-lt"/>
                <a:cs typeface="Arial"/>
              </a:rPr>
              <a:t>* Excluded Technical Process</a:t>
            </a:r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C5A1CCC7-3DA4-4311-BD52-5CA627809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22505"/>
              </p:ext>
            </p:extLst>
          </p:nvPr>
        </p:nvGraphicFramePr>
        <p:xfrm>
          <a:off x="138112" y="802149"/>
          <a:ext cx="8853488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288">
                  <a:extLst>
                    <a:ext uri="{9D8B030D-6E8A-4147-A177-3AD203B41FA5}">
                      <a16:colId xmlns:a16="http://schemas.microsoft.com/office/drawing/2014/main" val="60199655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573847996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1254819117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938252536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52184007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90235745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873862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9761657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73055697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ITEM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B-GRADE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C-GRADE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REWORK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TOTAL</a:t>
                      </a:r>
                    </a:p>
                    <a:p>
                      <a:pPr algn="ctr"/>
                      <a:r>
                        <a:rPr lang="en-US" sz="1300" dirty="0"/>
                        <a:t>DEFECT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QTY PRODUCE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% RFT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TOP 2 DEFECTS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5424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400" dirty="0"/>
                        <a:t>Cutting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3,041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98.95%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en-US" sz="1100" baseline="0" dirty="0"/>
                        <a:t>Reject Material</a:t>
                      </a:r>
                      <a:endParaRPr lang="id-ID" sz="1100" baseline="0" dirty="0"/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en-US" sz="1100" baseline="0" dirty="0"/>
                        <a:t>X-Ray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2489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400" dirty="0"/>
                        <a:t>Sewing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-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2,766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99.46%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99.80%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en-US" sz="1100" dirty="0"/>
                        <a:t>Contamination</a:t>
                      </a:r>
                      <a:endParaRPr lang="id-ID" sz="1100" dirty="0"/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en-US" sz="1100" dirty="0"/>
                        <a:t>Delamination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54767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400" dirty="0"/>
                        <a:t>Assembling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39</a:t>
                      </a:r>
                      <a:endParaRPr lang="id-ID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3,581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95.56%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98.00%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l">
                        <a:buAutoNum type="arabicPeriod"/>
                      </a:pPr>
                      <a:r>
                        <a:rPr lang="en-US" sz="1100" dirty="0"/>
                        <a:t>Bubble</a:t>
                      </a:r>
                      <a:endParaRPr lang="id-ID" sz="1100" dirty="0"/>
                    </a:p>
                    <a:p>
                      <a:pPr marL="228600" indent="-228600" algn="l">
                        <a:buAutoNum type="arabicPeriod"/>
                      </a:pPr>
                      <a:r>
                        <a:rPr lang="en-US" sz="1100" dirty="0"/>
                        <a:t>Damage</a:t>
                      </a:r>
                      <a:r>
                        <a:rPr lang="en-US" sz="1100" baseline="0" dirty="0"/>
                        <a:t> Lining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3855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400" dirty="0"/>
                        <a:t>Finishing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-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400" dirty="0"/>
                        <a:t>-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3,542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d-ID" sz="1100" baseline="0" dirty="0"/>
                    </a:p>
                    <a:p>
                      <a:pPr marL="0" indent="0" algn="l">
                        <a:buNone/>
                      </a:pP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183636"/>
                  </a:ext>
                </a:extLst>
              </a:tr>
              <a:tr h="495300"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Total RFT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94.05%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00FF"/>
                          </a:solidFill>
                        </a:rPr>
                        <a:t>97.80%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561413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C5A1CCC7-3DA4-4311-BD52-5CA627809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100948"/>
              </p:ext>
            </p:extLst>
          </p:nvPr>
        </p:nvGraphicFramePr>
        <p:xfrm>
          <a:off x="145256" y="3810000"/>
          <a:ext cx="8846342" cy="299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008">
                  <a:extLst>
                    <a:ext uri="{9D8B030D-6E8A-4147-A177-3AD203B41FA5}">
                      <a16:colId xmlns:a16="http://schemas.microsoft.com/office/drawing/2014/main" val="601996553"/>
                    </a:ext>
                  </a:extLst>
                </a:gridCol>
                <a:gridCol w="1193389">
                  <a:extLst>
                    <a:ext uri="{9D8B030D-6E8A-4147-A177-3AD203B41FA5}">
                      <a16:colId xmlns:a16="http://schemas.microsoft.com/office/drawing/2014/main" val="2573847996"/>
                    </a:ext>
                  </a:extLst>
                </a:gridCol>
                <a:gridCol w="1193389">
                  <a:extLst>
                    <a:ext uri="{9D8B030D-6E8A-4147-A177-3AD203B41FA5}">
                      <a16:colId xmlns:a16="http://schemas.microsoft.com/office/drawing/2014/main" val="1254819117"/>
                    </a:ext>
                  </a:extLst>
                </a:gridCol>
                <a:gridCol w="1193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3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3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33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53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ITEM 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B-GRADE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C-GRADE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REWORK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54240"/>
                  </a:ext>
                </a:extLst>
              </a:tr>
              <a:tr h="495300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Pairs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Pairs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Pairs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400" dirty="0"/>
                        <a:t>Cutting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2489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400" dirty="0"/>
                        <a:t>Sewing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5476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400" dirty="0"/>
                        <a:t>Assembling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ADB</a:t>
                      </a:r>
                    </a:p>
                    <a:p>
                      <a:pPr algn="ctr"/>
                      <a:r>
                        <a:rPr lang="en-US" sz="1400" dirty="0"/>
                        <a:t>Chore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ADB</a:t>
                      </a:r>
                    </a:p>
                    <a:p>
                      <a:pPr algn="ctr"/>
                      <a:r>
                        <a:rPr lang="en-US" sz="1400" dirty="0"/>
                        <a:t>Chore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</a:t>
                      </a:r>
                    </a:p>
                    <a:p>
                      <a:pPr algn="ctr"/>
                      <a:r>
                        <a:rPr lang="en-US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ADB</a:t>
                      </a:r>
                    </a:p>
                    <a:p>
                      <a:pPr algn="ctr"/>
                      <a:r>
                        <a:rPr lang="en-US" sz="1400" dirty="0"/>
                        <a:t>Chore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62</a:t>
                      </a:r>
                    </a:p>
                    <a:p>
                      <a:pPr algn="ctr"/>
                      <a:r>
                        <a:rPr lang="en-US" sz="1400" dirty="0"/>
                        <a:t> 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3855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en-US" sz="1400" dirty="0"/>
                        <a:t>Finishing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1183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9A432C-EA9E-4547-BCE1-8CD7AC0A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0C0-7C35-4BAB-AC6A-F3B5403D5862}" type="datetime4">
              <a:rPr lang="en-US" smtClean="0"/>
              <a:t>January 5,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1CB49-5D45-4401-960C-512FDF0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87834-319C-4CB9-9A44-EA8E86D0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91CF-5CAD-4B3A-99D6-018761873B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43360E2-CD48-4F35-872D-3F9FFF8A4A83}"/>
              </a:ext>
            </a:extLst>
          </p:cNvPr>
          <p:cNvSpPr txBox="1"/>
          <p:nvPr/>
        </p:nvSpPr>
        <p:spPr>
          <a:xfrm>
            <a:off x="200025" y="127789"/>
            <a:ext cx="8001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spc="-5" dirty="0">
                <a:solidFill>
                  <a:srgbClr val="0070C0"/>
                </a:solidFill>
                <a:cs typeface="Arial"/>
              </a:rPr>
              <a:t>QUALITY – TOP 2 DEFECTS (CUTTING) </a:t>
            </a:r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BE3021C0-AE64-4398-8A4C-5872E760C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433202"/>
              </p:ext>
            </p:extLst>
          </p:nvPr>
        </p:nvGraphicFramePr>
        <p:xfrm>
          <a:off x="212725" y="3200400"/>
          <a:ext cx="4359275" cy="29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485">
                  <a:extLst>
                    <a:ext uri="{9D8B030D-6E8A-4147-A177-3AD203B41FA5}">
                      <a16:colId xmlns:a16="http://schemas.microsoft.com/office/drawing/2014/main" val="4157563354"/>
                    </a:ext>
                  </a:extLst>
                </a:gridCol>
                <a:gridCol w="2274594">
                  <a:extLst>
                    <a:ext uri="{9D8B030D-6E8A-4147-A177-3AD203B41FA5}">
                      <a16:colId xmlns:a16="http://schemas.microsoft.com/office/drawing/2014/main" val="3067609488"/>
                    </a:ext>
                  </a:extLst>
                </a:gridCol>
                <a:gridCol w="971194">
                  <a:extLst>
                    <a:ext uri="{9D8B030D-6E8A-4147-A177-3AD203B41FA5}">
                      <a16:colId xmlns:a16="http://schemas.microsoft.com/office/drawing/2014/main" val="298415382"/>
                    </a:ext>
                  </a:extLst>
                </a:gridCol>
                <a:gridCol w="698002">
                  <a:extLst>
                    <a:ext uri="{9D8B030D-6E8A-4147-A177-3AD203B41FA5}">
                      <a16:colId xmlns:a16="http://schemas.microsoft.com/office/drawing/2014/main" val="629746750"/>
                    </a:ext>
                  </a:extLst>
                </a:gridCol>
              </a:tblGrid>
              <a:tr h="688277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No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ACTION PLAN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PIC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DUE DATE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56672"/>
                  </a:ext>
                </a:extLst>
              </a:tr>
              <a:tr h="1072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+mj-lt"/>
                        </a:rPr>
                        <a:t>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+mj-lt"/>
                        </a:rPr>
                        <a:t>Communication with Vendor</a:t>
                      </a:r>
                      <a:r>
                        <a:rPr lang="en-US" sz="1400" baseline="0" dirty="0">
                          <a:latin typeface="+mj-lt"/>
                        </a:rPr>
                        <a:t> about the issue, to replace and improvement on process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j-lt"/>
                        </a:rPr>
                        <a:t>Anna</a:t>
                      </a:r>
                    </a:p>
                    <a:p>
                      <a:pPr algn="ctr"/>
                      <a:r>
                        <a:rPr lang="en-US" sz="1400" dirty="0">
                          <a:latin typeface="+mj-lt"/>
                        </a:rPr>
                        <a:t>(</a:t>
                      </a:r>
                      <a:r>
                        <a:rPr lang="en-US" sz="1400" baseline="0" dirty="0">
                          <a:latin typeface="+mj-lt"/>
                        </a:rPr>
                        <a:t> </a:t>
                      </a:r>
                      <a:r>
                        <a:rPr lang="en-US" sz="1400" baseline="0" dirty="0" err="1">
                          <a:latin typeface="+mj-lt"/>
                        </a:rPr>
                        <a:t>purch</a:t>
                      </a:r>
                      <a:r>
                        <a:rPr lang="en-US" sz="1400" baseline="0" dirty="0">
                          <a:latin typeface="+mj-lt"/>
                        </a:rPr>
                        <a:t> )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085055"/>
                  </a:ext>
                </a:extLst>
              </a:tr>
              <a:tr h="1236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prstClr val="black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prstClr val="black"/>
                          </a:solidFill>
                          <a:latin typeface="+mj-lt"/>
                        </a:rPr>
                        <a:t>Keep to ensure the lining</a:t>
                      </a:r>
                      <a:r>
                        <a:rPr lang="en-US" sz="1400" baseline="0" dirty="0">
                          <a:solidFill>
                            <a:prstClr val="black"/>
                          </a:solidFill>
                          <a:latin typeface="+mj-lt"/>
                        </a:rPr>
                        <a:t> with marking lining transfer to production line</a:t>
                      </a:r>
                      <a:endParaRPr lang="en-US" sz="1400" dirty="0">
                        <a:solidFill>
                          <a:prstClr val="black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j-lt"/>
                        </a:rPr>
                        <a:t>Andre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j-lt"/>
                        </a:rPr>
                        <a:t>(</a:t>
                      </a:r>
                      <a:r>
                        <a:rPr lang="en-US" sz="1400" baseline="0" dirty="0">
                          <a:latin typeface="+mj-lt"/>
                        </a:rPr>
                        <a:t> QC )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1436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2FD7DBD-7EAB-4F25-AD49-7B311FFEC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423411"/>
              </p:ext>
            </p:extLst>
          </p:nvPr>
        </p:nvGraphicFramePr>
        <p:xfrm>
          <a:off x="207281" y="730250"/>
          <a:ext cx="4364719" cy="2393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719">
                  <a:extLst>
                    <a:ext uri="{9D8B030D-6E8A-4147-A177-3AD203B41FA5}">
                      <a16:colId xmlns:a16="http://schemas.microsoft.com/office/drawing/2014/main" val="3304260143"/>
                    </a:ext>
                  </a:extLst>
                </a:gridCol>
              </a:tblGrid>
              <a:tr h="8923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TOP 1 - ISSUE</a:t>
                      </a:r>
                    </a:p>
                    <a:p>
                      <a:pPr algn="r"/>
                      <a:r>
                        <a:rPr lang="en-US" dirty="0"/>
                        <a:t>Reject</a:t>
                      </a:r>
                      <a:r>
                        <a:rPr lang="en-US" baseline="0" dirty="0"/>
                        <a:t> Material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269253"/>
                  </a:ext>
                </a:extLst>
              </a:tr>
              <a:tr h="910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+mj-lt"/>
                        </a:rPr>
                        <a:t>POTENTIAL ROOT CAUSE :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Damage</a:t>
                      </a: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material lining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792440"/>
                  </a:ext>
                </a:extLst>
              </a:tr>
              <a:tr h="590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j-lt"/>
                        </a:rPr>
                        <a:t>QTY Quality : 20</a:t>
                      </a:r>
                      <a:r>
                        <a:rPr lang="en-US" sz="1600" b="0" baseline="0" dirty="0">
                          <a:latin typeface="+mj-lt"/>
                        </a:rPr>
                        <a:t> </a:t>
                      </a:r>
                      <a:r>
                        <a:rPr lang="en-US" sz="1600" b="0" dirty="0" err="1">
                          <a:latin typeface="+mj-lt"/>
                        </a:rPr>
                        <a:t>prs</a:t>
                      </a:r>
                      <a:r>
                        <a:rPr lang="en-US" sz="1600" b="0" dirty="0">
                          <a:latin typeface="+mj-lt"/>
                        </a:rPr>
                        <a:t> (0</a:t>
                      </a:r>
                      <a:r>
                        <a:rPr lang="id-ID" sz="1600" b="0" dirty="0">
                          <a:latin typeface="+mj-lt"/>
                        </a:rPr>
                        <a:t>.</a:t>
                      </a:r>
                      <a:r>
                        <a:rPr lang="en-US" sz="1600" b="0" dirty="0">
                          <a:latin typeface="+mj-lt"/>
                        </a:rPr>
                        <a:t>66%)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475809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BE3021C0-AE64-4398-8A4C-5872E760C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515669"/>
              </p:ext>
            </p:extLst>
          </p:nvPr>
        </p:nvGraphicFramePr>
        <p:xfrm>
          <a:off x="4632323" y="3186087"/>
          <a:ext cx="4391450" cy="3011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51">
                  <a:extLst>
                    <a:ext uri="{9D8B030D-6E8A-4147-A177-3AD203B41FA5}">
                      <a16:colId xmlns:a16="http://schemas.microsoft.com/office/drawing/2014/main" val="4157563354"/>
                    </a:ext>
                  </a:extLst>
                </a:gridCol>
                <a:gridCol w="2291383">
                  <a:extLst>
                    <a:ext uri="{9D8B030D-6E8A-4147-A177-3AD203B41FA5}">
                      <a16:colId xmlns:a16="http://schemas.microsoft.com/office/drawing/2014/main" val="3067609488"/>
                    </a:ext>
                  </a:extLst>
                </a:gridCol>
                <a:gridCol w="1039743">
                  <a:extLst>
                    <a:ext uri="{9D8B030D-6E8A-4147-A177-3AD203B41FA5}">
                      <a16:colId xmlns:a16="http://schemas.microsoft.com/office/drawing/2014/main" val="298415382"/>
                    </a:ext>
                  </a:extLst>
                </a:gridCol>
                <a:gridCol w="641773">
                  <a:extLst>
                    <a:ext uri="{9D8B030D-6E8A-4147-A177-3AD203B41FA5}">
                      <a16:colId xmlns:a16="http://schemas.microsoft.com/office/drawing/2014/main" val="629746750"/>
                    </a:ext>
                  </a:extLst>
                </a:gridCol>
              </a:tblGrid>
              <a:tr h="69156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No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ACTION PLAN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PIC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DUE DATE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56672"/>
                  </a:ext>
                </a:extLst>
              </a:tr>
              <a:tr h="10773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+mj-lt"/>
                        </a:rPr>
                        <a:t>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+mj-lt"/>
                        </a:rPr>
                        <a:t>Communication with Vendor</a:t>
                      </a:r>
                      <a:r>
                        <a:rPr lang="en-US" sz="1400" baseline="0" dirty="0">
                          <a:latin typeface="+mj-lt"/>
                        </a:rPr>
                        <a:t> about the issue, to replace and improvement on process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j-lt"/>
                        </a:rPr>
                        <a:t>Anna</a:t>
                      </a:r>
                    </a:p>
                    <a:p>
                      <a:pPr algn="ctr"/>
                      <a:r>
                        <a:rPr lang="en-US" sz="1400" dirty="0">
                          <a:latin typeface="+mj-lt"/>
                        </a:rPr>
                        <a:t>(</a:t>
                      </a:r>
                      <a:r>
                        <a:rPr lang="en-US" sz="1400" baseline="0" dirty="0">
                          <a:latin typeface="+mj-lt"/>
                        </a:rPr>
                        <a:t> </a:t>
                      </a:r>
                      <a:r>
                        <a:rPr lang="en-US" sz="1400" baseline="0" dirty="0" err="1">
                          <a:latin typeface="+mj-lt"/>
                        </a:rPr>
                        <a:t>purch</a:t>
                      </a:r>
                      <a:r>
                        <a:rPr lang="en-US" sz="1400" baseline="0" dirty="0">
                          <a:latin typeface="+mj-lt"/>
                        </a:rPr>
                        <a:t> )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085055"/>
                  </a:ext>
                </a:extLst>
              </a:tr>
              <a:tr h="12425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prstClr val="black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prstClr val="black"/>
                          </a:solidFill>
                          <a:latin typeface="+mj-lt"/>
                        </a:rPr>
                        <a:t>Keep to ensure the lining</a:t>
                      </a:r>
                      <a:r>
                        <a:rPr lang="en-US" sz="1400" baseline="0" dirty="0">
                          <a:solidFill>
                            <a:prstClr val="black"/>
                          </a:solidFill>
                          <a:latin typeface="+mj-lt"/>
                        </a:rPr>
                        <a:t> with marking lining transfer to production line</a:t>
                      </a:r>
                      <a:endParaRPr lang="en-US" sz="1400" dirty="0">
                        <a:solidFill>
                          <a:prstClr val="black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j-lt"/>
                        </a:rPr>
                        <a:t>Andre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j-lt"/>
                        </a:rPr>
                        <a:t>(</a:t>
                      </a:r>
                      <a:r>
                        <a:rPr lang="en-US" sz="1400" baseline="0" dirty="0">
                          <a:latin typeface="+mj-lt"/>
                        </a:rPr>
                        <a:t> QC )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1436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2FD7DBD-7EAB-4F25-AD49-7B311FFEC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621830"/>
              </p:ext>
            </p:extLst>
          </p:nvPr>
        </p:nvGraphicFramePr>
        <p:xfrm>
          <a:off x="4632323" y="730249"/>
          <a:ext cx="4359276" cy="2393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9276">
                  <a:extLst>
                    <a:ext uri="{9D8B030D-6E8A-4147-A177-3AD203B41FA5}">
                      <a16:colId xmlns:a16="http://schemas.microsoft.com/office/drawing/2014/main" val="3304260143"/>
                    </a:ext>
                  </a:extLst>
                </a:gridCol>
              </a:tblGrid>
              <a:tr h="8923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TOP 2 - ISSUE</a:t>
                      </a:r>
                    </a:p>
                    <a:p>
                      <a:pPr algn="l"/>
                      <a:r>
                        <a:rPr lang="en-US" dirty="0"/>
                        <a:t>X-Ray</a:t>
                      </a:r>
                      <a:r>
                        <a:rPr lang="en-US" baseline="0" dirty="0"/>
                        <a:t> Lining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269253"/>
                  </a:ext>
                </a:extLst>
              </a:tr>
              <a:tr h="9106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+mj-lt"/>
                        </a:rPr>
                        <a:t>POTENTIAL ROOT CAUSE :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Stacking</a:t>
                      </a: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lining over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792440"/>
                  </a:ext>
                </a:extLst>
              </a:tr>
              <a:tr h="590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j-lt"/>
                        </a:rPr>
                        <a:t>QTY Quality :</a:t>
                      </a:r>
                      <a:r>
                        <a:rPr lang="id-ID" sz="1600" b="0" dirty="0">
                          <a:latin typeface="+mj-lt"/>
                        </a:rPr>
                        <a:t> </a:t>
                      </a:r>
                      <a:r>
                        <a:rPr lang="en-US" sz="1600" b="0" dirty="0">
                          <a:latin typeface="+mj-lt"/>
                        </a:rPr>
                        <a:t>12 </a:t>
                      </a:r>
                      <a:r>
                        <a:rPr lang="en-US" sz="1600" b="0" dirty="0" err="1">
                          <a:latin typeface="+mj-lt"/>
                        </a:rPr>
                        <a:t>prs</a:t>
                      </a:r>
                      <a:r>
                        <a:rPr lang="en-US" sz="1600" b="0" dirty="0">
                          <a:latin typeface="+mj-lt"/>
                        </a:rPr>
                        <a:t> (0.39%)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475809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72" t="32492" r="8658" b="24290"/>
          <a:stretch/>
        </p:blipFill>
        <p:spPr>
          <a:xfrm>
            <a:off x="7486650" y="742949"/>
            <a:ext cx="1490424" cy="86995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0751" b="56206"/>
          <a:stretch/>
        </p:blipFill>
        <p:spPr>
          <a:xfrm>
            <a:off x="214901" y="730249"/>
            <a:ext cx="1545319" cy="85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4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9A432C-EA9E-4547-BCE1-8CD7AC0A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0C0-7C35-4BAB-AC6A-F3B5403D5862}" type="datetime4">
              <a:rPr lang="en-US" smtClean="0"/>
              <a:t>January 5,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1CB49-5D45-4401-960C-512FDF0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87834-319C-4CB9-9A44-EA8E86D0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91CF-5CAD-4B3A-99D6-018761873B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43360E2-CD48-4F35-872D-3F9FFF8A4A83}"/>
              </a:ext>
            </a:extLst>
          </p:cNvPr>
          <p:cNvSpPr txBox="1"/>
          <p:nvPr/>
        </p:nvSpPr>
        <p:spPr>
          <a:xfrm>
            <a:off x="200025" y="127789"/>
            <a:ext cx="8001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spc="-5" dirty="0">
                <a:solidFill>
                  <a:srgbClr val="0070C0"/>
                </a:solidFill>
                <a:cs typeface="Arial"/>
              </a:rPr>
              <a:t>QUALITY – TOP 2 DEFECTS (Sewing)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2FD7DBD-7EAB-4F25-AD49-7B311FFEC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374488"/>
              </p:ext>
            </p:extLst>
          </p:nvPr>
        </p:nvGraphicFramePr>
        <p:xfrm>
          <a:off x="161924" y="743120"/>
          <a:ext cx="4370712" cy="2173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0712">
                  <a:extLst>
                    <a:ext uri="{9D8B030D-6E8A-4147-A177-3AD203B41FA5}">
                      <a16:colId xmlns:a16="http://schemas.microsoft.com/office/drawing/2014/main" val="3304260143"/>
                    </a:ext>
                  </a:extLst>
                </a:gridCol>
              </a:tblGrid>
              <a:tr h="810049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TOP </a:t>
                      </a:r>
                      <a:r>
                        <a:rPr lang="id-ID" dirty="0"/>
                        <a:t>1</a:t>
                      </a:r>
                      <a:r>
                        <a:rPr lang="en-US" dirty="0"/>
                        <a:t> - ISSUE</a:t>
                      </a:r>
                    </a:p>
                    <a:p>
                      <a:pPr algn="r"/>
                      <a:r>
                        <a:rPr lang="en-US" dirty="0"/>
                        <a:t>Contamination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269253"/>
                  </a:ext>
                </a:extLst>
              </a:tr>
              <a:tr h="826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+mj-lt"/>
                        </a:rPr>
                        <a:t>POTENTIAL ROOT CAUSE :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Over Cementing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sz="1600" b="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792440"/>
                  </a:ext>
                </a:extLst>
              </a:tr>
              <a:tr h="5364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j-lt"/>
                        </a:rPr>
                        <a:t>QTY Quality : 9 prs (0.39%)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475809"/>
                  </a:ext>
                </a:extLst>
              </a:tr>
            </a:tbl>
          </a:graphicData>
        </a:graphic>
      </p:graphicFrame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BE3021C0-AE64-4398-8A4C-5872E760C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995608"/>
              </p:ext>
            </p:extLst>
          </p:nvPr>
        </p:nvGraphicFramePr>
        <p:xfrm>
          <a:off x="162810" y="2971800"/>
          <a:ext cx="4369826" cy="3225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490">
                  <a:extLst>
                    <a:ext uri="{9D8B030D-6E8A-4147-A177-3AD203B41FA5}">
                      <a16:colId xmlns:a16="http://schemas.microsoft.com/office/drawing/2014/main" val="4157563354"/>
                    </a:ext>
                  </a:extLst>
                </a:gridCol>
                <a:gridCol w="2280099">
                  <a:extLst>
                    <a:ext uri="{9D8B030D-6E8A-4147-A177-3AD203B41FA5}">
                      <a16:colId xmlns:a16="http://schemas.microsoft.com/office/drawing/2014/main" val="3067609488"/>
                    </a:ext>
                  </a:extLst>
                </a:gridCol>
                <a:gridCol w="943490">
                  <a:extLst>
                    <a:ext uri="{9D8B030D-6E8A-4147-A177-3AD203B41FA5}">
                      <a16:colId xmlns:a16="http://schemas.microsoft.com/office/drawing/2014/main" val="298415382"/>
                    </a:ext>
                  </a:extLst>
                </a:gridCol>
                <a:gridCol w="729747">
                  <a:extLst>
                    <a:ext uri="{9D8B030D-6E8A-4147-A177-3AD203B41FA5}">
                      <a16:colId xmlns:a16="http://schemas.microsoft.com/office/drawing/2014/main" val="629746750"/>
                    </a:ext>
                  </a:extLst>
                </a:gridCol>
              </a:tblGrid>
              <a:tr h="74070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No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ACTION PLAN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PIC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DUE DATE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56672"/>
                  </a:ext>
                </a:extLst>
              </a:tr>
              <a:tr h="11539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+mj-lt"/>
                        </a:rPr>
                        <a:t>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prstClr val="black"/>
                          </a:solidFill>
                          <a:latin typeface="+mj-lt"/>
                          <a:ea typeface="+mn-ea"/>
                          <a:cs typeface="+mn-cs"/>
                        </a:rPr>
                        <a:t>Keep</a:t>
                      </a:r>
                      <a:r>
                        <a:rPr lang="en-US" sz="1400" kern="1200" baseline="0" dirty="0">
                          <a:solidFill>
                            <a:prstClr val="black"/>
                          </a:solidFill>
                          <a:latin typeface="+mj-lt"/>
                          <a:ea typeface="+mn-ea"/>
                          <a:cs typeface="+mn-cs"/>
                        </a:rPr>
                        <a:t> to ensure cementing process is follow standard (must thin and even)</a:t>
                      </a:r>
                      <a:endParaRPr lang="en-US" sz="1400" kern="1200" dirty="0">
                        <a:solidFill>
                          <a:prstClr val="black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+mj-lt"/>
                        </a:rPr>
                        <a:t>Yusron</a:t>
                      </a:r>
                      <a:r>
                        <a:rPr lang="en-US" sz="1400" dirty="0">
                          <a:latin typeface="+mj-lt"/>
                        </a:rPr>
                        <a:t> / Dede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085055"/>
                  </a:ext>
                </a:extLst>
              </a:tr>
              <a:tr h="133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prstClr val="black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400" dirty="0">
                          <a:solidFill>
                            <a:prstClr val="black"/>
                          </a:solidFill>
                          <a:latin typeface="+mj-lt"/>
                        </a:rPr>
                        <a:t>Keep to</a:t>
                      </a:r>
                      <a:r>
                        <a:rPr lang="en-US" sz="1400" baseline="0" dirty="0">
                          <a:solidFill>
                            <a:prstClr val="black"/>
                          </a:solidFill>
                          <a:latin typeface="+mj-lt"/>
                        </a:rPr>
                        <a:t> tighten control the lining storage process after the glue process do not overlap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Yusron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/ Dede / 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Paruntungan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1436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2FD7DBD-7EAB-4F25-AD49-7B311FFEC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681008"/>
              </p:ext>
            </p:extLst>
          </p:nvPr>
        </p:nvGraphicFramePr>
        <p:xfrm>
          <a:off x="4572001" y="743120"/>
          <a:ext cx="4368172" cy="2173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172">
                  <a:extLst>
                    <a:ext uri="{9D8B030D-6E8A-4147-A177-3AD203B41FA5}">
                      <a16:colId xmlns:a16="http://schemas.microsoft.com/office/drawing/2014/main" val="3304260143"/>
                    </a:ext>
                  </a:extLst>
                </a:gridCol>
              </a:tblGrid>
              <a:tr h="81004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TOP </a:t>
                      </a:r>
                      <a:r>
                        <a:rPr lang="id-ID" dirty="0"/>
                        <a:t>2</a:t>
                      </a:r>
                      <a:r>
                        <a:rPr lang="en-US" dirty="0"/>
                        <a:t> - ISSUE</a:t>
                      </a:r>
                    </a:p>
                    <a:p>
                      <a:pPr algn="l"/>
                      <a:r>
                        <a:rPr lang="en-US" b="1" dirty="0"/>
                        <a:t>Delamination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269253"/>
                  </a:ext>
                </a:extLst>
              </a:tr>
              <a:tr h="826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+mj-lt"/>
                        </a:rPr>
                        <a:t>POTENTIAL ROOT CAUSE :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UN-even cementing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792440"/>
                  </a:ext>
                </a:extLst>
              </a:tr>
              <a:tr h="5364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j-lt"/>
                        </a:rPr>
                        <a:t>QTY Quality :  6 prs (0.26%)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475809"/>
                  </a:ext>
                </a:extLst>
              </a:tr>
            </a:tbl>
          </a:graphicData>
        </a:graphic>
      </p:graphicFrame>
      <p:graphicFrame>
        <p:nvGraphicFramePr>
          <p:cNvPr id="15" name="Table 10">
            <a:extLst>
              <a:ext uri="{FF2B5EF4-FFF2-40B4-BE49-F238E27FC236}">
                <a16:creationId xmlns:a16="http://schemas.microsoft.com/office/drawing/2014/main" id="{BE3021C0-AE64-4398-8A4C-5872E760C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206516"/>
              </p:ext>
            </p:extLst>
          </p:nvPr>
        </p:nvGraphicFramePr>
        <p:xfrm>
          <a:off x="4572000" y="2971800"/>
          <a:ext cx="4391450" cy="322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51">
                  <a:extLst>
                    <a:ext uri="{9D8B030D-6E8A-4147-A177-3AD203B41FA5}">
                      <a16:colId xmlns:a16="http://schemas.microsoft.com/office/drawing/2014/main" val="4157563354"/>
                    </a:ext>
                  </a:extLst>
                </a:gridCol>
                <a:gridCol w="2291383">
                  <a:extLst>
                    <a:ext uri="{9D8B030D-6E8A-4147-A177-3AD203B41FA5}">
                      <a16:colId xmlns:a16="http://schemas.microsoft.com/office/drawing/2014/main" val="3067609488"/>
                    </a:ext>
                  </a:extLst>
                </a:gridCol>
                <a:gridCol w="948158">
                  <a:extLst>
                    <a:ext uri="{9D8B030D-6E8A-4147-A177-3AD203B41FA5}">
                      <a16:colId xmlns:a16="http://schemas.microsoft.com/office/drawing/2014/main" val="298415382"/>
                    </a:ext>
                  </a:extLst>
                </a:gridCol>
                <a:gridCol w="733358">
                  <a:extLst>
                    <a:ext uri="{9D8B030D-6E8A-4147-A177-3AD203B41FA5}">
                      <a16:colId xmlns:a16="http://schemas.microsoft.com/office/drawing/2014/main" val="629746750"/>
                    </a:ext>
                  </a:extLst>
                </a:gridCol>
              </a:tblGrid>
              <a:tr h="7349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No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ACTION PLAN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PIC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DUE DATE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56672"/>
                  </a:ext>
                </a:extLst>
              </a:tr>
              <a:tr h="117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+mj-lt"/>
                        </a:rPr>
                        <a:t>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id-ID" sz="1400" dirty="0">
                          <a:latin typeface="+mj-lt"/>
                        </a:rPr>
                        <a:t>Keep</a:t>
                      </a:r>
                      <a:r>
                        <a:rPr lang="en-US" sz="1400" baseline="0" dirty="0">
                          <a:latin typeface="+mj-lt"/>
                        </a:rPr>
                        <a:t> to control cementing process is follow standard (must thin even).</a:t>
                      </a:r>
                      <a:endParaRPr lang="id-ID" sz="1400" dirty="0">
                        <a:latin typeface="+mj-lt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+mj-lt"/>
                        </a:rPr>
                        <a:t>Yusron</a:t>
                      </a:r>
                      <a:r>
                        <a:rPr lang="en-US" sz="1400" dirty="0">
                          <a:latin typeface="+mj-lt"/>
                        </a:rPr>
                        <a:t> / Dede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085055"/>
                  </a:ext>
                </a:extLst>
              </a:tr>
              <a:tr h="13204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prstClr val="black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400" dirty="0">
                          <a:solidFill>
                            <a:prstClr val="black"/>
                          </a:solidFill>
                          <a:latin typeface="+mj-lt"/>
                        </a:rPr>
                        <a:t>Keep to</a:t>
                      </a:r>
                      <a:r>
                        <a:rPr lang="en-US" sz="1400" dirty="0">
                          <a:solidFill>
                            <a:prstClr val="black"/>
                          </a:solidFill>
                          <a:latin typeface="+mj-lt"/>
                        </a:rPr>
                        <a:t> ensure setting temperature</a:t>
                      </a:r>
                      <a:r>
                        <a:rPr lang="en-US" sz="1400" baseline="0" dirty="0">
                          <a:solidFill>
                            <a:prstClr val="black"/>
                          </a:solidFill>
                          <a:latin typeface="+mj-lt"/>
                        </a:rPr>
                        <a:t> chamber is follow standard, Regular checking chamber by </a:t>
                      </a:r>
                      <a:r>
                        <a:rPr lang="en-US" sz="1400" baseline="0">
                          <a:solidFill>
                            <a:prstClr val="black"/>
                          </a:solidFill>
                          <a:latin typeface="+mj-lt"/>
                        </a:rPr>
                        <a:t>LAB team.</a:t>
                      </a:r>
                      <a:endParaRPr lang="en-US" sz="1400" dirty="0">
                        <a:solidFill>
                          <a:prstClr val="black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Yusron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/ Dede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14361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9" t="23958" r="1528" b="6250"/>
          <a:stretch/>
        </p:blipFill>
        <p:spPr>
          <a:xfrm>
            <a:off x="152400" y="749297"/>
            <a:ext cx="1377249" cy="7747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2" t="27893" r="35477" b="15625"/>
          <a:stretch/>
        </p:blipFill>
        <p:spPr>
          <a:xfrm rot="5400000">
            <a:off x="450583" y="444936"/>
            <a:ext cx="780880" cy="13772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198"/>
          <a:stretch/>
        </p:blipFill>
        <p:spPr>
          <a:xfrm>
            <a:off x="7548418" y="753645"/>
            <a:ext cx="1391755" cy="77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47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9A432C-EA9E-4547-BCE1-8CD7AC0A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0C0-7C35-4BAB-AC6A-F3B5403D5862}" type="datetime4">
              <a:rPr lang="en-US" smtClean="0"/>
              <a:t>January 5,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1CB49-5D45-4401-960C-512FDF0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87834-319C-4CB9-9A44-EA8E86D0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91CF-5CAD-4B3A-99D6-018761873B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43360E2-CD48-4F35-872D-3F9FFF8A4A83}"/>
              </a:ext>
            </a:extLst>
          </p:cNvPr>
          <p:cNvSpPr txBox="1"/>
          <p:nvPr/>
        </p:nvSpPr>
        <p:spPr>
          <a:xfrm>
            <a:off x="200025" y="127789"/>
            <a:ext cx="8001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spc="-5" dirty="0">
                <a:solidFill>
                  <a:srgbClr val="0070C0"/>
                </a:solidFill>
                <a:cs typeface="Arial"/>
              </a:rPr>
              <a:t>QUALITY – TOP 2 DEFECTS (ASSEMBLING)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2064D3A-DD36-4115-803D-40C2898BC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958991"/>
              </p:ext>
            </p:extLst>
          </p:nvPr>
        </p:nvGraphicFramePr>
        <p:xfrm>
          <a:off x="207281" y="726096"/>
          <a:ext cx="4339318" cy="239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9318">
                  <a:extLst>
                    <a:ext uri="{9D8B030D-6E8A-4147-A177-3AD203B41FA5}">
                      <a16:colId xmlns:a16="http://schemas.microsoft.com/office/drawing/2014/main" val="3304260143"/>
                    </a:ext>
                  </a:extLst>
                </a:gridCol>
              </a:tblGrid>
              <a:tr h="893888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TOP 1 – ISSUE</a:t>
                      </a:r>
                      <a:endParaRPr lang="id-ID" dirty="0"/>
                    </a:p>
                    <a:p>
                      <a:pPr algn="r"/>
                      <a:r>
                        <a:rPr lang="en-US" sz="1800" dirty="0"/>
                        <a:t>Bubble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269253"/>
                  </a:ext>
                </a:extLst>
              </a:tr>
              <a:tr h="9121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+mj-lt"/>
                        </a:rPr>
                        <a:t>POTENTIAL</a:t>
                      </a:r>
                      <a:r>
                        <a:rPr lang="en-US" sz="1600" b="1" baseline="0" dirty="0">
                          <a:latin typeface="+mj-lt"/>
                        </a:rPr>
                        <a:t> </a:t>
                      </a:r>
                      <a:r>
                        <a:rPr lang="en-US" sz="1600" b="1" dirty="0">
                          <a:latin typeface="+mj-lt"/>
                        </a:rPr>
                        <a:t>ROOT CAUSE :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600" b="0" baseline="0" dirty="0">
                          <a:latin typeface="+mj-lt"/>
                        </a:rPr>
                        <a:t>Over Drying</a:t>
                      </a:r>
                      <a:endParaRPr lang="en-US" sz="1600" b="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792440"/>
                  </a:ext>
                </a:extLst>
              </a:tr>
              <a:tr h="592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j-lt"/>
                        </a:rPr>
                        <a:t>QTY Quality :</a:t>
                      </a:r>
                      <a:r>
                        <a:rPr lang="id-ID" sz="1600" b="0" dirty="0">
                          <a:latin typeface="+mj-lt"/>
                        </a:rPr>
                        <a:t> </a:t>
                      </a:r>
                      <a:r>
                        <a:rPr lang="en-US" sz="1600" b="0" dirty="0">
                          <a:latin typeface="+mj-lt"/>
                        </a:rPr>
                        <a:t>10 </a:t>
                      </a:r>
                      <a:r>
                        <a:rPr lang="en-US" sz="1600" b="0" dirty="0" err="1">
                          <a:latin typeface="+mj-lt"/>
                        </a:rPr>
                        <a:t>prs</a:t>
                      </a:r>
                      <a:r>
                        <a:rPr lang="en-US" sz="1600" b="0" dirty="0">
                          <a:latin typeface="+mj-lt"/>
                        </a:rPr>
                        <a:t> (</a:t>
                      </a:r>
                      <a:r>
                        <a:rPr lang="en-US" sz="1600" b="0" baseline="0" dirty="0">
                          <a:latin typeface="+mj-lt"/>
                        </a:rPr>
                        <a:t> 0.28%</a:t>
                      </a:r>
                      <a:r>
                        <a:rPr lang="en-US" sz="1600" b="0" dirty="0">
                          <a:latin typeface="+mj-lt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475809"/>
                  </a:ext>
                </a:extLst>
              </a:tr>
            </a:tbl>
          </a:graphicData>
        </a:graphic>
      </p:graphicFrame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B36A7121-421A-4DB0-95E1-FCDCD480E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351432"/>
              </p:ext>
            </p:extLst>
          </p:nvPr>
        </p:nvGraphicFramePr>
        <p:xfrm>
          <a:off x="180550" y="3135081"/>
          <a:ext cx="4366049" cy="304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130">
                  <a:extLst>
                    <a:ext uri="{9D8B030D-6E8A-4147-A177-3AD203B41FA5}">
                      <a16:colId xmlns:a16="http://schemas.microsoft.com/office/drawing/2014/main" val="4157563354"/>
                    </a:ext>
                  </a:extLst>
                </a:gridCol>
                <a:gridCol w="2278129">
                  <a:extLst>
                    <a:ext uri="{9D8B030D-6E8A-4147-A177-3AD203B41FA5}">
                      <a16:colId xmlns:a16="http://schemas.microsoft.com/office/drawing/2014/main" val="3067609488"/>
                    </a:ext>
                  </a:extLst>
                </a:gridCol>
                <a:gridCol w="942674">
                  <a:extLst>
                    <a:ext uri="{9D8B030D-6E8A-4147-A177-3AD203B41FA5}">
                      <a16:colId xmlns:a16="http://schemas.microsoft.com/office/drawing/2014/main" val="298415382"/>
                    </a:ext>
                  </a:extLst>
                </a:gridCol>
                <a:gridCol w="729116">
                  <a:extLst>
                    <a:ext uri="{9D8B030D-6E8A-4147-A177-3AD203B41FA5}">
                      <a16:colId xmlns:a16="http://schemas.microsoft.com/office/drawing/2014/main" val="629746750"/>
                    </a:ext>
                  </a:extLst>
                </a:gridCol>
              </a:tblGrid>
              <a:tr h="52756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No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ACTION PLAN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PIC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DUE DATE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56672"/>
                  </a:ext>
                </a:extLst>
              </a:tr>
              <a:tr h="16137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+mj-lt"/>
                        </a:rPr>
                        <a:t>Keep to</a:t>
                      </a:r>
                      <a:r>
                        <a:rPr lang="en-US" sz="1400" baseline="0" dirty="0">
                          <a:latin typeface="+mj-lt"/>
                        </a:rPr>
                        <a:t> control cementing process and distance between cementing and attaching rubber process follow standard (4 pcs after cementing to attaching rubber)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Hasanudin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Andre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085055"/>
                  </a:ext>
                </a:extLst>
              </a:tr>
              <a:tr h="9021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prstClr val="black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prstClr val="black"/>
                          </a:solidFill>
                          <a:latin typeface="+mj-lt"/>
                        </a:rPr>
                        <a:t>Keep to</a:t>
                      </a:r>
                      <a:r>
                        <a:rPr lang="en-US" sz="1400" baseline="0" dirty="0">
                          <a:solidFill>
                            <a:prstClr val="black"/>
                          </a:solidFill>
                          <a:latin typeface="+mj-lt"/>
                        </a:rPr>
                        <a:t> ensure attaching rubber and hand pressing is follow standard</a:t>
                      </a:r>
                      <a:endParaRPr lang="en-US" sz="1400" dirty="0">
                        <a:solidFill>
                          <a:prstClr val="black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Hasanudin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Andre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14361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438A0FAE-AC23-DF81-353B-DB456A39B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831141"/>
              </p:ext>
            </p:extLst>
          </p:nvPr>
        </p:nvGraphicFramePr>
        <p:xfrm>
          <a:off x="4572000" y="3135081"/>
          <a:ext cx="4366049" cy="304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130">
                  <a:extLst>
                    <a:ext uri="{9D8B030D-6E8A-4147-A177-3AD203B41FA5}">
                      <a16:colId xmlns:a16="http://schemas.microsoft.com/office/drawing/2014/main" val="4157563354"/>
                    </a:ext>
                  </a:extLst>
                </a:gridCol>
                <a:gridCol w="2278129">
                  <a:extLst>
                    <a:ext uri="{9D8B030D-6E8A-4147-A177-3AD203B41FA5}">
                      <a16:colId xmlns:a16="http://schemas.microsoft.com/office/drawing/2014/main" val="3067609488"/>
                    </a:ext>
                  </a:extLst>
                </a:gridCol>
                <a:gridCol w="942674">
                  <a:extLst>
                    <a:ext uri="{9D8B030D-6E8A-4147-A177-3AD203B41FA5}">
                      <a16:colId xmlns:a16="http://schemas.microsoft.com/office/drawing/2014/main" val="298415382"/>
                    </a:ext>
                  </a:extLst>
                </a:gridCol>
                <a:gridCol w="729116">
                  <a:extLst>
                    <a:ext uri="{9D8B030D-6E8A-4147-A177-3AD203B41FA5}">
                      <a16:colId xmlns:a16="http://schemas.microsoft.com/office/drawing/2014/main" val="629746750"/>
                    </a:ext>
                  </a:extLst>
                </a:gridCol>
              </a:tblGrid>
              <a:tr h="23890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No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ACTION PLAN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PIC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j-lt"/>
                        </a:rPr>
                        <a:t>DUE DATE</a:t>
                      </a:r>
                    </a:p>
                  </a:txBody>
                  <a:tcPr anchor="ctr">
                    <a:lnB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56672"/>
                  </a:ext>
                </a:extLst>
              </a:tr>
              <a:tr h="161975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latin typeface="+mj-lt"/>
                        </a:rPr>
                        <a:t>1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latin typeface="+mj-lt"/>
                        </a:rPr>
                        <a:t>Communication with Vendor about the issue,</a:t>
                      </a:r>
                      <a:r>
                        <a:rPr lang="en-US" sz="1400" baseline="0" dirty="0">
                          <a:latin typeface="+mj-lt"/>
                        </a:rPr>
                        <a:t> to replace and improvement on process</a:t>
                      </a:r>
                      <a:endParaRPr lang="en-US" sz="1400" dirty="0">
                        <a:latin typeface="+mj-lt"/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Hasanudin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Andre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 25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085055"/>
                  </a:ext>
                </a:extLst>
              </a:tr>
              <a:tr h="9055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prstClr val="black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prstClr val="black"/>
                          </a:solidFill>
                          <a:latin typeface="+mj-lt"/>
                        </a:rPr>
                        <a:t>Keep to ensure the lining with marking lining transfer to production line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Hasanudin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Andre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Jul</a:t>
                      </a:r>
                      <a:r>
                        <a:rPr kumimoji="0" lang="id-ID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71436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2FD7DBD-7EAB-4F25-AD49-7B311FFEC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067581"/>
              </p:ext>
            </p:extLst>
          </p:nvPr>
        </p:nvGraphicFramePr>
        <p:xfrm>
          <a:off x="4572206" y="743631"/>
          <a:ext cx="4368172" cy="23805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172">
                  <a:extLst>
                    <a:ext uri="{9D8B030D-6E8A-4147-A177-3AD203B41FA5}">
                      <a16:colId xmlns:a16="http://schemas.microsoft.com/office/drawing/2014/main" val="3304260143"/>
                    </a:ext>
                  </a:extLst>
                </a:gridCol>
              </a:tblGrid>
              <a:tr h="88712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TOP </a:t>
                      </a:r>
                      <a:r>
                        <a:rPr lang="id-ID" dirty="0"/>
                        <a:t>2</a:t>
                      </a:r>
                      <a:r>
                        <a:rPr lang="en-US" dirty="0"/>
                        <a:t> - ISSUE</a:t>
                      </a:r>
                    </a:p>
                    <a:p>
                      <a:pPr algn="l"/>
                      <a:r>
                        <a:rPr lang="en-US" b="1" baseline="0" dirty="0"/>
                        <a:t>Damage Lining</a:t>
                      </a: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269253"/>
                  </a:ext>
                </a:extLst>
              </a:tr>
              <a:tr h="9056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+mj-lt"/>
                        </a:rPr>
                        <a:t>POTENTIAL ROOT CAUSE : 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Damage</a:t>
                      </a:r>
                      <a:r>
                        <a:rPr lang="en-US" sz="16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material lining</a:t>
                      </a:r>
                      <a:endParaRPr lang="en-US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kern="1200" baseline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792440"/>
                  </a:ext>
                </a:extLst>
              </a:tr>
              <a:tr h="5877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latin typeface="+mj-lt"/>
                        </a:rPr>
                        <a:t>QTY Quality :  6 </a:t>
                      </a:r>
                      <a:r>
                        <a:rPr lang="en-US" sz="1600" b="0" dirty="0" err="1">
                          <a:latin typeface="+mj-lt"/>
                        </a:rPr>
                        <a:t>prs</a:t>
                      </a:r>
                      <a:r>
                        <a:rPr lang="en-US" sz="1600" b="0" dirty="0">
                          <a:latin typeface="+mj-lt"/>
                        </a:rPr>
                        <a:t> (0.17%)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475809"/>
                  </a:ext>
                </a:extLst>
              </a:tr>
            </a:tbl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36" t="40564" r="5582" b="22222"/>
          <a:stretch/>
        </p:blipFill>
        <p:spPr>
          <a:xfrm>
            <a:off x="7448574" y="739821"/>
            <a:ext cx="1489475" cy="86037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" t="13500" r="21214" b="24393"/>
          <a:stretch/>
        </p:blipFill>
        <p:spPr>
          <a:xfrm>
            <a:off x="208762" y="726096"/>
            <a:ext cx="1467638" cy="8741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3" t="24894" r="33114" b="46155"/>
          <a:stretch/>
        </p:blipFill>
        <p:spPr>
          <a:xfrm>
            <a:off x="7448574" y="739821"/>
            <a:ext cx="1489475" cy="86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52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9A432C-EA9E-4547-BCE1-8CD7AC0A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0C0-7C35-4BAB-AC6A-F3B5403D5862}" type="datetime4">
              <a:rPr lang="en-US" smtClean="0"/>
              <a:t>January 5,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1CB49-5D45-4401-960C-512FDF0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87834-319C-4CB9-9A44-EA8E86D0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91CF-5CAD-4B3A-99D6-018761873B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43360E2-CD48-4F35-872D-3F9FFF8A4A83}"/>
              </a:ext>
            </a:extLst>
          </p:cNvPr>
          <p:cNvSpPr txBox="1"/>
          <p:nvPr/>
        </p:nvSpPr>
        <p:spPr>
          <a:xfrm>
            <a:off x="200025" y="127789"/>
            <a:ext cx="8001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spc="-5" dirty="0">
                <a:solidFill>
                  <a:srgbClr val="0070C0"/>
                </a:solidFill>
                <a:cs typeface="Arial"/>
              </a:rPr>
              <a:t>QUALITY – %PASS RATE FINAL INSPECTION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28F1F26-B7BF-4943-88C0-50A4DFD55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473320"/>
              </p:ext>
            </p:extLst>
          </p:nvPr>
        </p:nvGraphicFramePr>
        <p:xfrm>
          <a:off x="214313" y="889000"/>
          <a:ext cx="8715375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8375">
                  <a:extLst>
                    <a:ext uri="{9D8B030D-6E8A-4147-A177-3AD203B41FA5}">
                      <a16:colId xmlns:a16="http://schemas.microsoft.com/office/drawing/2014/main" val="3303701819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395331850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3737336868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830758740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886998299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975021334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3989291030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847975357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4253953670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latin typeface="+mj-lt"/>
                        </a:rPr>
                        <a:t>Total 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latin typeface="+mj-lt"/>
                        </a:rPr>
                        <a:t>QTY Prs 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latin typeface="+mj-lt"/>
                        </a:rPr>
                        <a:t>QTY Inspect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latin typeface="+mj-lt"/>
                        </a:rPr>
                        <a:t>Qty PO Passed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 err="1">
                          <a:latin typeface="+mj-lt"/>
                        </a:rPr>
                        <a:t>Qty</a:t>
                      </a:r>
                      <a:r>
                        <a:rPr lang="en-US" sz="1300" b="1" dirty="0">
                          <a:latin typeface="+mj-lt"/>
                        </a:rPr>
                        <a:t> Pairs Passed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latin typeface="+mj-lt"/>
                        </a:rPr>
                        <a:t>Qty PO Re-Packing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latin typeface="+mj-lt"/>
                        </a:rPr>
                        <a:t>QTY </a:t>
                      </a:r>
                      <a:r>
                        <a:rPr lang="en-US" sz="1300" b="1" dirty="0" err="1">
                          <a:latin typeface="+mj-lt"/>
                        </a:rPr>
                        <a:t>Prs</a:t>
                      </a:r>
                      <a:r>
                        <a:rPr lang="en-US" sz="1300" b="1" dirty="0">
                          <a:latin typeface="+mj-lt"/>
                        </a:rPr>
                        <a:t> Re-Packing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latin typeface="+mj-lt"/>
                        </a:rPr>
                        <a:t>% PO Pass Rate 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latin typeface="+mj-lt"/>
                        </a:rPr>
                        <a:t>% Prs Pass Rate FI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232979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id-ID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19,174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14,626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19,174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79938"/>
                  </a:ext>
                </a:extLst>
              </a:tr>
            </a:tbl>
          </a:graphicData>
        </a:graphic>
      </p:graphicFrame>
      <p:sp>
        <p:nvSpPr>
          <p:cNvPr id="21" name="object 2">
            <a:extLst>
              <a:ext uri="{FF2B5EF4-FFF2-40B4-BE49-F238E27FC236}">
                <a16:creationId xmlns:a16="http://schemas.microsoft.com/office/drawing/2014/main" id="{4F8946AB-508A-4286-9795-0515B775EA5E}"/>
              </a:ext>
            </a:extLst>
          </p:cNvPr>
          <p:cNvSpPr txBox="1"/>
          <p:nvPr/>
        </p:nvSpPr>
        <p:spPr>
          <a:xfrm>
            <a:off x="214313" y="2209800"/>
            <a:ext cx="871537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000" b="1" spc="-5" dirty="0">
                <a:solidFill>
                  <a:srgbClr val="0070C0"/>
                </a:solidFill>
                <a:latin typeface="+mj-lt"/>
                <a:cs typeface="Arial"/>
              </a:rPr>
              <a:t>Detail PO Re-Inspection</a:t>
            </a:r>
            <a:endParaRPr lang="en-US" sz="2800" b="1" spc="-5" dirty="0">
              <a:solidFill>
                <a:srgbClr val="0070C0"/>
              </a:solidFill>
              <a:latin typeface="+mj-lt"/>
              <a:cs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5DDC8AF-7C03-4DF4-991A-1C20BC369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537395"/>
              </p:ext>
            </p:extLst>
          </p:nvPr>
        </p:nvGraphicFramePr>
        <p:xfrm>
          <a:off x="200026" y="2743200"/>
          <a:ext cx="8729661" cy="1628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22">
                  <a:extLst>
                    <a:ext uri="{9D8B030D-6E8A-4147-A177-3AD203B41FA5}">
                      <a16:colId xmlns:a16="http://schemas.microsoft.com/office/drawing/2014/main" val="3303701819"/>
                    </a:ext>
                  </a:extLst>
                </a:gridCol>
                <a:gridCol w="809417">
                  <a:extLst>
                    <a:ext uri="{9D8B030D-6E8A-4147-A177-3AD203B41FA5}">
                      <a16:colId xmlns:a16="http://schemas.microsoft.com/office/drawing/2014/main" val="2395331850"/>
                    </a:ext>
                  </a:extLst>
                </a:gridCol>
                <a:gridCol w="598237">
                  <a:extLst>
                    <a:ext uri="{9D8B030D-6E8A-4147-A177-3AD203B41FA5}">
                      <a16:colId xmlns:a16="http://schemas.microsoft.com/office/drawing/2014/main" val="3737336868"/>
                    </a:ext>
                  </a:extLst>
                </a:gridCol>
                <a:gridCol w="972135">
                  <a:extLst>
                    <a:ext uri="{9D8B030D-6E8A-4147-A177-3AD203B41FA5}">
                      <a16:colId xmlns:a16="http://schemas.microsoft.com/office/drawing/2014/main" val="2830758740"/>
                    </a:ext>
                  </a:extLst>
                </a:gridCol>
                <a:gridCol w="598237">
                  <a:extLst>
                    <a:ext uri="{9D8B030D-6E8A-4147-A177-3AD203B41FA5}">
                      <a16:colId xmlns:a16="http://schemas.microsoft.com/office/drawing/2014/main" val="886998299"/>
                    </a:ext>
                  </a:extLst>
                </a:gridCol>
                <a:gridCol w="924535">
                  <a:extLst>
                    <a:ext uri="{9D8B030D-6E8A-4147-A177-3AD203B41FA5}">
                      <a16:colId xmlns:a16="http://schemas.microsoft.com/office/drawing/2014/main" val="2975021334"/>
                    </a:ext>
                  </a:extLst>
                </a:gridCol>
                <a:gridCol w="7477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49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5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88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257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89548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j-lt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j-lt"/>
                          <a:cs typeface="Times New Roman" panose="02020603050405020304" pitchFamily="18" charset="0"/>
                        </a:rPr>
                        <a:t>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j-lt"/>
                          <a:cs typeface="Times New Roman" panose="02020603050405020304" pitchFamily="18" charset="0"/>
                        </a:rPr>
                        <a:t>QTY 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j-lt"/>
                          <a:cs typeface="Times New Roman" panose="02020603050405020304" pitchFamily="18" charset="0"/>
                        </a:rPr>
                        <a:t>SKU’s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+mj-lt"/>
                          <a:cs typeface="Times New Roman" panose="02020603050405020304" pitchFamily="18" charset="0"/>
                        </a:rPr>
                        <a:t>Dest</a:t>
                      </a:r>
                      <a:endParaRPr lang="en-US" sz="1000" b="1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j-lt"/>
                          <a:cs typeface="Times New Roman" panose="02020603050405020304" pitchFamily="18" charset="0"/>
                        </a:rPr>
                        <a:t>Defect</a:t>
                      </a:r>
                    </a:p>
                    <a:p>
                      <a:pPr algn="ctr"/>
                      <a:r>
                        <a:rPr lang="en-US" sz="1000" b="0" dirty="0">
                          <a:latin typeface="+mj-lt"/>
                          <a:cs typeface="Times New Roman" panose="02020603050405020304" pitchFamily="18" charset="0"/>
                        </a:rPr>
                        <a:t>Rejected</a:t>
                      </a:r>
                      <a:r>
                        <a:rPr lang="en-US" sz="1000" b="0" baseline="0" dirty="0">
                          <a:latin typeface="+mj-lt"/>
                          <a:cs typeface="Times New Roman" panose="02020603050405020304" pitchFamily="18" charset="0"/>
                        </a:rPr>
                        <a:t> PO</a:t>
                      </a:r>
                      <a:endParaRPr lang="en-US" sz="1000" b="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+mj-lt"/>
                          <a:cs typeface="Times New Roman" panose="02020603050405020304" pitchFamily="18" charset="0"/>
                        </a:rPr>
                        <a:t>Qty</a:t>
                      </a:r>
                      <a:r>
                        <a:rPr lang="en-US" sz="1000" b="1" dirty="0">
                          <a:latin typeface="+mj-lt"/>
                          <a:cs typeface="Times New Roman" panose="02020603050405020304" pitchFamily="18" charset="0"/>
                        </a:rPr>
                        <a:t> Pass Re-Inspection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Defect Re-inspection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Times New Roman" panose="02020603050405020304" pitchFamily="18" charset="0"/>
                        </a:rPr>
                        <a:t>Others Defect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j-lt"/>
                          <a:cs typeface="Times New Roman" panose="02020603050405020304" pitchFamily="18" charset="0"/>
                        </a:rPr>
                        <a:t>Pictures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j-lt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232979"/>
                  </a:ext>
                </a:extLst>
              </a:tr>
              <a:tr h="93855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400" dirty="0"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400" dirty="0"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400" dirty="0"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400" dirty="0"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200" dirty="0">
                        <a:latin typeface="+mj-lt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2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05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0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d-ID" sz="1200" dirty="0">
                        <a:latin typeface="+mj-lt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d-ID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AutoShape 2" descr="blob:https://web.whatsapp.com/3a9f75dd-e8c0-4630-8a1b-9079486438b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106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9A432C-EA9E-4547-BCE1-8CD7AC0A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0C0-7C35-4BAB-AC6A-F3B5403D5862}" type="datetime4">
              <a:rPr lang="en-US" smtClean="0"/>
              <a:t>January 5, 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1CB49-5D45-4401-960C-512FDF0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ROCKY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87834-319C-4CB9-9A44-EA8E86D0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891CF-5CAD-4B3A-99D6-018761873B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43360E2-CD48-4F35-872D-3F9FFF8A4A83}"/>
              </a:ext>
            </a:extLst>
          </p:cNvPr>
          <p:cNvSpPr txBox="1"/>
          <p:nvPr/>
        </p:nvSpPr>
        <p:spPr>
          <a:xfrm>
            <a:off x="200025" y="127789"/>
            <a:ext cx="80010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b="1" spc="-5" dirty="0">
                <a:solidFill>
                  <a:srgbClr val="0070C0"/>
                </a:solidFill>
                <a:cs typeface="Arial"/>
              </a:rPr>
              <a:t>QUALITY – B &amp; C Grade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86FCA31D-7AE4-40AE-BDF9-B93EEC7F6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590505"/>
              </p:ext>
            </p:extLst>
          </p:nvPr>
        </p:nvGraphicFramePr>
        <p:xfrm>
          <a:off x="169545" y="762000"/>
          <a:ext cx="8791573" cy="2423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2455">
                  <a:extLst>
                    <a:ext uri="{9D8B030D-6E8A-4147-A177-3AD203B41FA5}">
                      <a16:colId xmlns:a16="http://schemas.microsoft.com/office/drawing/2014/main" val="26730323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1686162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518483"/>
                    </a:ext>
                  </a:extLst>
                </a:gridCol>
                <a:gridCol w="579690">
                  <a:extLst>
                    <a:ext uri="{9D8B030D-6E8A-4147-A177-3AD203B41FA5}">
                      <a16:colId xmlns:a16="http://schemas.microsoft.com/office/drawing/2014/main" val="3159740626"/>
                    </a:ext>
                  </a:extLst>
                </a:gridCol>
                <a:gridCol w="639510">
                  <a:extLst>
                    <a:ext uri="{9D8B030D-6E8A-4147-A177-3AD203B41FA5}">
                      <a16:colId xmlns:a16="http://schemas.microsoft.com/office/drawing/2014/main" val="7204109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960326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79893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678825022"/>
                    </a:ext>
                  </a:extLst>
                </a:gridCol>
                <a:gridCol w="377235">
                  <a:extLst>
                    <a:ext uri="{9D8B030D-6E8A-4147-A177-3AD203B41FA5}">
                      <a16:colId xmlns:a16="http://schemas.microsoft.com/office/drawing/2014/main" val="3237124001"/>
                    </a:ext>
                  </a:extLst>
                </a:gridCol>
                <a:gridCol w="569109">
                  <a:extLst>
                    <a:ext uri="{9D8B030D-6E8A-4147-A177-3AD203B41FA5}">
                      <a16:colId xmlns:a16="http://schemas.microsoft.com/office/drawing/2014/main" val="183998361"/>
                    </a:ext>
                  </a:extLst>
                </a:gridCol>
                <a:gridCol w="56910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9109">
                  <a:extLst>
                    <a:ext uri="{9D8B030D-6E8A-4147-A177-3AD203B41FA5}">
                      <a16:colId xmlns:a16="http://schemas.microsoft.com/office/drawing/2014/main" val="501768097"/>
                    </a:ext>
                  </a:extLst>
                </a:gridCol>
                <a:gridCol w="569109">
                  <a:extLst>
                    <a:ext uri="{9D8B030D-6E8A-4147-A177-3AD203B41FA5}">
                      <a16:colId xmlns:a16="http://schemas.microsoft.com/office/drawing/2014/main" val="71780411"/>
                    </a:ext>
                  </a:extLst>
                </a:gridCol>
                <a:gridCol w="668647">
                  <a:extLst>
                    <a:ext uri="{9D8B030D-6E8A-4147-A177-3AD203B41FA5}">
                      <a16:colId xmlns:a16="http://schemas.microsoft.com/office/drawing/2014/main" val="1096655973"/>
                    </a:ext>
                  </a:extLst>
                </a:gridCol>
              </a:tblGrid>
              <a:tr h="5260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JAN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FEB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MAR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APR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MAY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JUN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JUL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AGS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SEP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OCT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NOV’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DEC’</a:t>
                      </a:r>
                    </a:p>
                    <a:p>
                      <a:pPr algn="ctr"/>
                      <a:r>
                        <a:rPr lang="en-US" sz="1050" dirty="0"/>
                        <a:t>’22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TOTAL</a:t>
                      </a:r>
                    </a:p>
                    <a:p>
                      <a:pPr algn="ctr"/>
                      <a:r>
                        <a:rPr lang="en-US" sz="1050" dirty="0"/>
                        <a:t>2022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5052231"/>
                  </a:ext>
                </a:extLst>
              </a:tr>
              <a:tr h="426664">
                <a:tc>
                  <a:txBody>
                    <a:bodyPr/>
                    <a:lstStyle/>
                    <a:p>
                      <a:r>
                        <a:rPr lang="en-US" sz="1050" b="1" dirty="0"/>
                        <a:t>TTL PRODUCE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1,422,064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151,957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id-ID" sz="1200" i="0" dirty="0">
                          <a:solidFill>
                            <a:schemeClr val="tx1"/>
                          </a:solidFill>
                        </a:rPr>
                        <a:t>55,568</a:t>
                      </a:r>
                      <a:endParaRPr lang="en-US" sz="120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169,606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98,174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44,835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60,569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32,201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05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05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05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05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050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712,910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028345"/>
                  </a:ext>
                </a:extLst>
              </a:tr>
              <a:tr h="426664">
                <a:tc>
                  <a:txBody>
                    <a:bodyPr/>
                    <a:lstStyle/>
                    <a:p>
                      <a:r>
                        <a:rPr lang="en-US" sz="1050" b="1" dirty="0"/>
                        <a:t>B-GRADE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1,035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0.07%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357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1200" i="0" dirty="0">
                          <a:solidFill>
                            <a:schemeClr val="tx1"/>
                          </a:solidFill>
                        </a:rPr>
                        <a:t>383</a:t>
                      </a:r>
                      <a:endParaRPr lang="en-US" sz="1200" i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0.2</a:t>
                      </a:r>
                      <a:r>
                        <a:rPr lang="id-ID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262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236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160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0.17 %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1,526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0.21 %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484982"/>
                  </a:ext>
                </a:extLst>
              </a:tr>
              <a:tr h="426664">
                <a:tc>
                  <a:txBody>
                    <a:bodyPr/>
                    <a:lstStyle/>
                    <a:p>
                      <a:r>
                        <a:rPr lang="en-US" sz="1050" b="1" dirty="0"/>
                        <a:t>C-GRADE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20,740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1.46%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1,108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1200" i="0" dirty="0">
                          <a:solidFill>
                            <a:schemeClr val="tx1"/>
                          </a:solidFill>
                        </a:rPr>
                        <a:t>696</a:t>
                      </a:r>
                      <a:endParaRPr lang="en-US" sz="1200" i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</a:t>
                      </a:r>
                      <a:r>
                        <a:rPr lang="id-ID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45</a:t>
                      </a:r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1,013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754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0.76%</a:t>
                      </a:r>
                    </a:p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405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397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0.66 %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140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0.43 %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1200" i="1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i="0" dirty="0">
                          <a:solidFill>
                            <a:schemeClr val="tx1"/>
                          </a:solidFill>
                        </a:rPr>
                        <a:t>4,663</a:t>
                      </a:r>
                    </a:p>
                    <a:p>
                      <a:pPr algn="r"/>
                      <a:r>
                        <a:rPr lang="en-US" sz="1200" i="1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0.65 %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950363"/>
                  </a:ext>
                </a:extLst>
              </a:tr>
            </a:tbl>
          </a:graphicData>
        </a:graphic>
      </p:graphicFrame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221CFF74-B17F-4B8D-A3E7-AE0294369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53251"/>
              </p:ext>
            </p:extLst>
          </p:nvPr>
        </p:nvGraphicFramePr>
        <p:xfrm>
          <a:off x="323845" y="3810000"/>
          <a:ext cx="4193052" cy="1836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454">
                  <a:extLst>
                    <a:ext uri="{9D8B030D-6E8A-4147-A177-3AD203B41FA5}">
                      <a16:colId xmlns:a16="http://schemas.microsoft.com/office/drawing/2014/main" val="903797575"/>
                    </a:ext>
                  </a:extLst>
                </a:gridCol>
                <a:gridCol w="1329799">
                  <a:extLst>
                    <a:ext uri="{9D8B030D-6E8A-4147-A177-3AD203B41FA5}">
                      <a16:colId xmlns:a16="http://schemas.microsoft.com/office/drawing/2014/main" val="4206451493"/>
                    </a:ext>
                  </a:extLst>
                </a:gridCol>
                <a:gridCol w="1329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B-GRADE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2021</a:t>
                      </a:r>
                    </a:p>
                    <a:p>
                      <a:pPr algn="ctr"/>
                      <a:r>
                        <a:rPr lang="en-US" sz="1600" dirty="0"/>
                        <a:t>Jan</a:t>
                      </a:r>
                      <a:r>
                        <a:rPr lang="en-US" sz="1600" baseline="0" dirty="0"/>
                        <a:t> – Dec </a:t>
                      </a:r>
                      <a:r>
                        <a:rPr lang="en-US" sz="1600" dirty="0"/>
                        <a:t>’21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2022</a:t>
                      </a:r>
                    </a:p>
                    <a:p>
                      <a:pPr algn="ctr"/>
                      <a:r>
                        <a:rPr lang="en-US" sz="1600" dirty="0"/>
                        <a:t>Jan - Apr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05811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400" dirty="0"/>
                        <a:t>XT - WH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74653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400" dirty="0"/>
                        <a:t>XT- ADB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5577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400" dirty="0"/>
                        <a:t>MUCK FAMILY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603098"/>
                  </a:ext>
                </a:extLst>
              </a:tr>
            </a:tbl>
          </a:graphicData>
        </a:graphic>
      </p:graphicFrame>
      <p:graphicFrame>
        <p:nvGraphicFramePr>
          <p:cNvPr id="15" name="Table 7">
            <a:extLst>
              <a:ext uri="{FF2B5EF4-FFF2-40B4-BE49-F238E27FC236}">
                <a16:creationId xmlns:a16="http://schemas.microsoft.com/office/drawing/2014/main" id="{221CFF74-B17F-4B8D-A3E7-AE0294369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066404"/>
              </p:ext>
            </p:extLst>
          </p:nvPr>
        </p:nvGraphicFramePr>
        <p:xfrm>
          <a:off x="4800600" y="3810000"/>
          <a:ext cx="4193052" cy="1836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454">
                  <a:extLst>
                    <a:ext uri="{9D8B030D-6E8A-4147-A177-3AD203B41FA5}">
                      <a16:colId xmlns:a16="http://schemas.microsoft.com/office/drawing/2014/main" val="903797575"/>
                    </a:ext>
                  </a:extLst>
                </a:gridCol>
                <a:gridCol w="1329799">
                  <a:extLst>
                    <a:ext uri="{9D8B030D-6E8A-4147-A177-3AD203B41FA5}">
                      <a16:colId xmlns:a16="http://schemas.microsoft.com/office/drawing/2014/main" val="4206451493"/>
                    </a:ext>
                  </a:extLst>
                </a:gridCol>
                <a:gridCol w="1329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C-GRADE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2021</a:t>
                      </a:r>
                    </a:p>
                    <a:p>
                      <a:pPr algn="ctr"/>
                      <a:r>
                        <a:rPr lang="en-US" sz="1600" dirty="0"/>
                        <a:t>Jan – Dec ’21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2022</a:t>
                      </a:r>
                    </a:p>
                    <a:p>
                      <a:pPr algn="ctr"/>
                      <a:r>
                        <a:rPr lang="en-US" sz="1600" dirty="0"/>
                        <a:t>Jan - Apr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05811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400" dirty="0"/>
                        <a:t>XT - WH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887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74653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400" dirty="0"/>
                        <a:t>XT- ADB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9,976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1400" dirty="0"/>
                        <a:t>2</a:t>
                      </a:r>
                      <a:r>
                        <a:rPr lang="en-US" sz="1400" dirty="0"/>
                        <a:t>,528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5577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sz="1400" dirty="0"/>
                        <a:t>MUCK FAMILLY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9,877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1,985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603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Sebuah gambar berisi orang, luar ruangan, pria&#10;&#10;Description automatically generated">
            <a:extLst>
              <a:ext uri="{FF2B5EF4-FFF2-40B4-BE49-F238E27FC236}">
                <a16:creationId xmlns:a16="http://schemas.microsoft.com/office/drawing/2014/main" id="{3E9E7B52-DAED-4985-B226-BF22D81E70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625" b="13389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0D6AA-2E24-4173-9C8D-23966D5B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73C7D45-A5E0-463D-94D3-74B02C0538D0}" type="datetime4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January 5, 2023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7593F6-8DCA-42C4-B289-41D40CE9A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ROCKY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85B68-0FE0-435D-8565-9C166622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CF891CF-5CAD-4B3A-99D6-018761873B7D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A5A48C-3218-43E1-9FA1-ADDABAB61C2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200" b="95600" l="10000" r="90000">
                        <a14:foregroundMark x1="31667" y1="24200" x2="60444" y2="69000"/>
                        <a14:foregroundMark x1="60444" y1="69000" x2="66667" y2="95600"/>
                        <a14:foregroundMark x1="69444" y1="15400" x2="56556" y2="9800"/>
                        <a14:foregroundMark x1="56556" y1="9800" x2="31222" y2="13600"/>
                        <a14:foregroundMark x1="31222" y1="13600" x2="29333" y2="47800"/>
                        <a14:foregroundMark x1="29333" y1="47800" x2="40667" y2="73800"/>
                        <a14:foregroundMark x1="40667" y1="73800" x2="58778" y2="73600"/>
                        <a14:foregroundMark x1="58778" y1="73600" x2="60000" y2="71800"/>
                        <a14:foregroundMark x1="26000" y1="92400" x2="32889" y2="24600"/>
                        <a14:foregroundMark x1="32889" y1="24600" x2="31333" y2="13600"/>
                        <a14:foregroundMark x1="31333" y1="13600" x2="26889" y2="9600"/>
                        <a14:foregroundMark x1="27556" y1="12800" x2="29000" y2="72800"/>
                        <a14:foregroundMark x1="40778" y1="21000" x2="41222" y2="71800"/>
                        <a14:foregroundMark x1="41222" y1="71800" x2="42000" y2="66800"/>
                        <a14:foregroundMark x1="49444" y1="7200" x2="57111" y2="79000"/>
                        <a14:foregroundMark x1="65444" y1="21800" x2="69444" y2="86800"/>
                        <a14:foregroundMark x1="55000" y1="7600" x2="31111" y2="65200"/>
                        <a14:foregroundMark x1="52444" y1="10200" x2="40667" y2="36200"/>
                        <a14:foregroundMark x1="54556" y1="12400" x2="57111" y2="43400"/>
                        <a14:foregroundMark x1="57111" y1="43400" x2="57222" y2="43800"/>
                        <a14:foregroundMark x1="56222" y1="41000" x2="66111" y2="61000"/>
                        <a14:foregroundMark x1="26222" y1="74800" x2="60333" y2="45200"/>
                        <a14:foregroundMark x1="60333" y1="45200" x2="64556" y2="52600"/>
                        <a14:foregroundMark x1="64556" y1="52600" x2="64778" y2="53600"/>
                        <a14:foregroundMark x1="58111" y1="49200" x2="62333" y2="66200"/>
                        <a14:foregroundMark x1="44444" y1="72200" x2="62000" y2="51800"/>
                        <a14:foregroundMark x1="62000" y1="51800" x2="62000" y2="51800"/>
                        <a14:foregroundMark x1="35111" y1="92400" x2="48000" y2="79000"/>
                        <a14:foregroundMark x1="48000" y1="79000" x2="48444" y2="78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2444" r="25111"/>
          <a:stretch/>
        </p:blipFill>
        <p:spPr>
          <a:xfrm>
            <a:off x="116129" y="161925"/>
            <a:ext cx="1025042" cy="1085850"/>
          </a:xfrm>
          <a:prstGeom prst="rect">
            <a:avLst/>
          </a:prstGeom>
        </p:spPr>
      </p:pic>
      <p:pic>
        <p:nvPicPr>
          <p:cNvPr id="8" name="Picture 2" descr="Thank You HD Stock Images | Shutterstock">
            <a:extLst>
              <a:ext uri="{FF2B5EF4-FFF2-40B4-BE49-F238E27FC236}">
                <a16:creationId xmlns:a16="http://schemas.microsoft.com/office/drawing/2014/main" id="{134D26FD-B3CF-437E-ABC8-3B74AB40A3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59253" y1="48214" x2="59253" y2="48214"/>
                        <a14:foregroundMark x1="68683" y1="47857" x2="68683" y2="47857"/>
                        <a14:backgroundMark x1="51068" y1="42857" x2="51068" y2="42857"/>
                        <a14:backgroundMark x1="70463" y1="51786" x2="70463" y2="51786"/>
                        <a14:backgroundMark x1="74911" y1="48929" x2="74911" y2="48929"/>
                        <a14:backgroundMark x1="41637" y1="41786" x2="41637" y2="41786"/>
                        <a14:backgroundMark x1="35409" y1="53214" x2="35409" y2="53214"/>
                        <a14:backgroundMark x1="23310" y1="45357" x2="23310" y2="45357"/>
                        <a14:backgroundMark x1="25445" y1="43571" x2="25445" y2="4357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8719" t="18572" r="8719" b="24286"/>
          <a:stretch/>
        </p:blipFill>
        <p:spPr bwMode="auto">
          <a:xfrm>
            <a:off x="90729" y="1408418"/>
            <a:ext cx="3185871" cy="109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01781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53330</TotalTime>
  <Words>813</Words>
  <Application>Microsoft Office PowerPoint</Application>
  <PresentationFormat>On-screen Show (4:3)</PresentationFormat>
  <Paragraphs>376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HSP Footwear Operations KPI</dc:title>
  <dc:creator>Xue, Henry</dc:creator>
  <cp:lastModifiedBy>Faisal</cp:lastModifiedBy>
  <cp:revision>2790</cp:revision>
  <cp:lastPrinted>2022-07-11T03:59:13Z</cp:lastPrinted>
  <dcterms:created xsi:type="dcterms:W3CDTF">2020-11-09T01:56:23Z</dcterms:created>
  <dcterms:modified xsi:type="dcterms:W3CDTF">2023-01-04T22:38:31Z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2020-11-05T00:00:00Z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2020-11-09T00:00:00Z</vt:filetime>
  </property>
</Properties>
</file>