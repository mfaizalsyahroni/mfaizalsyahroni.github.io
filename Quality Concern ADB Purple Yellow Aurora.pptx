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4660"/>
  </p:normalViewPr>
  <p:slideViewPr>
    <p:cSldViewPr snapToGrid="0">
      <p:cViewPr varScale="1">
        <p:scale>
          <a:sx n="67" d="100"/>
          <a:sy n="67" d="100"/>
        </p:scale>
        <p:origin x="73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0FF52-78B5-4762-A802-FF99E98B883E}" type="datetimeFigureOut">
              <a:rPr lang="en-US" smtClean="0"/>
              <a:t>1/5/2023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E945D4-F845-4BF4-B7EA-E49DC9711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45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62C93-B8C2-4E4C-95BA-91115096113D}" type="datetimeFigureOut">
              <a:rPr lang="en-US" smtClean="0"/>
              <a:t>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E2D4A-2FA0-45A2-AED8-B2B1F17D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69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62C93-B8C2-4E4C-95BA-91115096113D}" type="datetimeFigureOut">
              <a:rPr lang="en-US" smtClean="0"/>
              <a:t>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E2D4A-2FA0-45A2-AED8-B2B1F17D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59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62C93-B8C2-4E4C-95BA-91115096113D}" type="datetimeFigureOut">
              <a:rPr lang="en-US" smtClean="0"/>
              <a:t>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E2D4A-2FA0-45A2-AED8-B2B1F17D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08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62C93-B8C2-4E4C-95BA-91115096113D}" type="datetimeFigureOut">
              <a:rPr lang="en-US" smtClean="0"/>
              <a:t>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E2D4A-2FA0-45A2-AED8-B2B1F17D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51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62C93-B8C2-4E4C-95BA-91115096113D}" type="datetimeFigureOut">
              <a:rPr lang="en-US" smtClean="0"/>
              <a:t>1/5/2023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E2D4A-2FA0-45A2-AED8-B2B1F17D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20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62C93-B8C2-4E4C-95BA-91115096113D}" type="datetimeFigureOut">
              <a:rPr lang="en-US" smtClean="0"/>
              <a:t>1/5/2023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E2D4A-2FA0-45A2-AED8-B2B1F17D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9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62C93-B8C2-4E4C-95BA-91115096113D}" type="datetimeFigureOut">
              <a:rPr lang="en-US" smtClean="0"/>
              <a:t>1/5/2023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E2D4A-2FA0-45A2-AED8-B2B1F17D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11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62C93-B8C2-4E4C-95BA-91115096113D}" type="datetimeFigureOut">
              <a:rPr lang="en-US" smtClean="0"/>
              <a:t>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E2D4A-2FA0-45A2-AED8-B2B1F17D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03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62C93-B8C2-4E4C-95BA-91115096113D}" type="datetimeFigureOut">
              <a:rPr lang="en-US" smtClean="0"/>
              <a:t>1/5/2023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E2D4A-2FA0-45A2-AED8-B2B1F17D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993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62C93-B8C2-4E4C-95BA-91115096113D}" type="datetimeFigureOut">
              <a:rPr lang="en-US" smtClean="0"/>
              <a:t>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E2D4A-2FA0-45A2-AED8-B2B1F17D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74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62C93-B8C2-4E4C-95BA-91115096113D}" type="datetimeFigureOut">
              <a:rPr lang="en-US" smtClean="0"/>
              <a:t>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E2D4A-2FA0-45A2-AED8-B2B1F17D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78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62C93-B8C2-4E4C-95BA-91115096113D}" type="datetimeFigureOut">
              <a:rPr lang="en-US" smtClean="0"/>
              <a:t>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E2D4A-2FA0-45A2-AED8-B2B1F17DE1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9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jp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214312" y="130988"/>
            <a:ext cx="7962538" cy="366562"/>
          </a:xfrm>
          <a:prstGeom prst="rect">
            <a:avLst/>
          </a:prstGeo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89000"/>
              </a:lnSpc>
              <a:spcBef>
                <a:spcPts val="0"/>
              </a:spcBef>
            </a:pPr>
            <a:r>
              <a:rPr lang="en-US" sz="1800" dirty="0">
                <a:solidFill>
                  <a:prstClr val="black"/>
                </a:solidFill>
              </a:rPr>
              <a:t>Quality issue: </a:t>
            </a:r>
            <a:r>
              <a:rPr lang="en-US" sz="1800" b="1" dirty="0">
                <a:solidFill>
                  <a:prstClr val="black"/>
                </a:solidFill>
              </a:rPr>
              <a:t>Damage Printing   </a:t>
            </a:r>
          </a:p>
        </p:txBody>
      </p:sp>
      <p:graphicFrame>
        <p:nvGraphicFramePr>
          <p:cNvPr id="8" name="Group 41">
            <a:extLst>
              <a:ext uri="{FF2B5EF4-FFF2-40B4-BE49-F238E27FC236}">
                <a16:creationId xmlns:a16="http://schemas.microsoft.com/office/drawing/2014/main" id="{E0A36FD1-8D1D-4B59-B825-9D4718628339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63981935"/>
              </p:ext>
            </p:extLst>
          </p:nvPr>
        </p:nvGraphicFramePr>
        <p:xfrm>
          <a:off x="214312" y="453006"/>
          <a:ext cx="11865835" cy="6251505"/>
        </p:xfrm>
        <a:graphic>
          <a:graphicData uri="http://schemas.openxmlformats.org/drawingml/2006/table">
            <a:tbl>
              <a:tblPr/>
              <a:tblGrid>
                <a:gridCol w="733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1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811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595">
                <a:tc gridSpan="2">
                  <a:txBody>
                    <a:bodyPr/>
                    <a:lstStyle>
                      <a:lvl1pPr marL="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1pPr>
                      <a:lvl2pPr marL="30841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2pPr>
                      <a:lvl3pPr marL="616819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3pPr>
                      <a:lvl4pPr marL="92522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4pPr>
                      <a:lvl5pPr marL="123363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5pPr>
                      <a:lvl6pPr marL="1542047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6pPr>
                      <a:lvl7pPr marL="1850456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7pPr>
                      <a:lvl8pPr marL="2158865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8pPr>
                      <a:lvl9pPr marL="2467274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9pPr>
                    </a:lstStyle>
                    <a:p>
                      <a:pPr eaLnBrk="0" hangingPunct="0">
                        <a:tabLst>
                          <a:tab pos="2600325" algn="l"/>
                        </a:tabLst>
                        <a:defRPr/>
                      </a:pPr>
                      <a:r>
                        <a:rPr lang="de-DE" sz="1200" b="1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PROBLEM DESCRIPTION </a:t>
                      </a:r>
                      <a:r>
                        <a:rPr lang="de-DE" sz="900" b="0" i="1" u="none" kern="1200" dirty="0">
                          <a:solidFill>
                            <a:schemeClr val="tx1"/>
                          </a:solidFill>
                          <a:latin typeface="+mj-lt"/>
                          <a:ea typeface="SimSun" pitchFamily="2" charset="-122"/>
                          <a:cs typeface="Arial" charset="0"/>
                        </a:rPr>
                        <a:t>(quality issue: 8D, Factory, Shipped Pos / Best practice: DMAIC)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1pPr>
                      <a:lvl2pPr marL="30841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2pPr>
                      <a:lvl3pPr marL="616819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3pPr>
                      <a:lvl4pPr marL="92522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4pPr>
                      <a:lvl5pPr marL="123363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5pPr>
                      <a:lvl6pPr marL="1542047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6pPr>
                      <a:lvl7pPr marL="1850456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7pPr>
                      <a:lvl8pPr marL="2158865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8pPr>
                      <a:lvl9pPr marL="2467274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9pPr>
                    </a:lstStyle>
                    <a:p>
                      <a:pPr marL="85725" indent="-85725" eaLnBrk="0" hangingPunct="0">
                        <a:lnSpc>
                          <a:spcPct val="111000"/>
                        </a:lnSpc>
                        <a:tabLst>
                          <a:tab pos="269875" algn="l"/>
                        </a:tabLst>
                        <a:defRPr/>
                      </a:pPr>
                      <a:r>
                        <a:rPr lang="en-US" sz="1100" b="1" noProof="0" dirty="0">
                          <a:solidFill>
                            <a:schemeClr val="tx1"/>
                          </a:solidFill>
                          <a:latin typeface="+mj-lt"/>
                        </a:rPr>
                        <a:t>VISUALIZED PROBLEM </a:t>
                      </a:r>
                      <a:r>
                        <a:rPr lang="en-US" sz="900" b="0" i="1" u="none" kern="1200" noProof="0" dirty="0">
                          <a:solidFill>
                            <a:schemeClr val="tx1"/>
                          </a:solidFill>
                          <a:latin typeface="+mj-lt"/>
                          <a:ea typeface="SimSun" pitchFamily="2" charset="-122"/>
                          <a:cs typeface="Arial" charset="0"/>
                        </a:rPr>
                        <a:t>(photos BEFORE vs AFTER)</a:t>
                      </a:r>
                      <a:endParaRPr lang="en-US" sz="800" b="0" i="1" u="none" kern="1200" noProof="0" dirty="0">
                        <a:solidFill>
                          <a:schemeClr val="tx1"/>
                        </a:solidFill>
                        <a:latin typeface="+mj-lt"/>
                        <a:ea typeface="SimSun" pitchFamily="2" charset="-122"/>
                        <a:cs typeface="Arial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6641">
                <a:tc gridSpan="2">
                  <a:txBody>
                    <a:bodyPr/>
                    <a:lstStyle>
                      <a:lvl1pPr marL="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1pPr>
                      <a:lvl2pPr marL="30841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2pPr>
                      <a:lvl3pPr marL="616819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3pPr>
                      <a:lvl4pPr marL="92522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4pPr>
                      <a:lvl5pPr marL="123363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5pPr>
                      <a:lvl6pPr marL="1542047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6pPr>
                      <a:lvl7pPr marL="1850456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7pPr>
                      <a:lvl8pPr marL="2158865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8pPr>
                      <a:lvl9pPr marL="2467274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kern="1200" baseline="0" dirty="0">
                        <a:solidFill>
                          <a:srgbClr val="002060"/>
                        </a:solidFill>
                        <a:latin typeface="Bosch Office San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#Damage</a:t>
                      </a:r>
                      <a:r>
                        <a:rPr kumimoji="1" lang="en-US" altLang="ja-JP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Printing</a:t>
                      </a:r>
                      <a:r>
                        <a:rPr kumimoji="1" lang="en-US" altLang="ja-JP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endParaRPr lang="en-US" altLang="zh-CN" sz="1200" kern="1200" baseline="0" dirty="0">
                        <a:solidFill>
                          <a:srgbClr val="002060"/>
                        </a:solidFill>
                        <a:latin typeface="Bosch Office San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168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5A82"/>
                        </a:buClr>
                        <a:buSzPct val="65000"/>
                        <a:buFont typeface="+mj-lt"/>
                        <a:buNone/>
                        <a:tabLst>
                          <a:tab pos="228600" algn="l"/>
                          <a:tab pos="1524000" algn="l"/>
                        </a:tabLst>
                        <a:defRPr/>
                      </a:pPr>
                      <a:endParaRPr lang="en-US" altLang="zh-CN" sz="1400" b="1" i="1" dirty="0">
                        <a:latin typeface="+mj-lt"/>
                        <a:ea typeface="SimSun" pitchFamily="2" charset="-122"/>
                        <a:cs typeface="Arial" charset="0"/>
                      </a:endParaRPr>
                    </a:p>
                  </a:txBody>
                  <a:tcPr marL="7200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7200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1pPr>
                      <a:lvl2pPr marL="30841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2pPr>
                      <a:lvl3pPr marL="616819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3pPr>
                      <a:lvl4pPr marL="92522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4pPr>
                      <a:lvl5pPr marL="123363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5pPr>
                      <a:lvl6pPr marL="1542047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6pPr>
                      <a:lvl7pPr marL="1850456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7pPr>
                      <a:lvl8pPr marL="2158865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8pPr>
                      <a:lvl9pPr marL="2467274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9pPr>
                    </a:lstStyle>
                    <a:p>
                      <a:pPr algn="ctr"/>
                      <a:endParaRPr lang="en-US" sz="1200" b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158">
                <a:tc>
                  <a:txBody>
                    <a:bodyPr/>
                    <a:lstStyle>
                      <a:lvl1pPr marL="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1pPr>
                      <a:lvl2pPr marL="30841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2pPr>
                      <a:lvl3pPr marL="616819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3pPr>
                      <a:lvl4pPr marL="92522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4pPr>
                      <a:lvl5pPr marL="123363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5pPr>
                      <a:lvl6pPr marL="1542047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6pPr>
                      <a:lvl7pPr marL="1850456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7pPr>
                      <a:lvl8pPr marL="2158865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8pPr>
                      <a:lvl9pPr marL="2467274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000" b="1" u="none" kern="1200" dirty="0">
                          <a:solidFill>
                            <a:schemeClr val="tx1"/>
                          </a:solidFill>
                          <a:latin typeface="+mj-lt"/>
                          <a:ea typeface="SimSun" pitchFamily="2" charset="-122"/>
                          <a:cs typeface="Arial" charset="0"/>
                        </a:rPr>
                        <a:t>Root Cause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800" b="0" i="1" u="none" kern="1200" dirty="0">
                          <a:solidFill>
                            <a:schemeClr val="tx1"/>
                          </a:solidFill>
                          <a:latin typeface="+mj-lt"/>
                          <a:ea typeface="SimSun" pitchFamily="2" charset="-122"/>
                          <a:cs typeface="Arial" charset="0"/>
                        </a:rPr>
                        <a:t>(finishing root cause)</a:t>
                      </a:r>
                    </a:p>
                  </a:txBody>
                  <a:tcPr marL="7200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i="1" kern="1200" baseline="0" dirty="0">
                        <a:solidFill>
                          <a:srgbClr val="002060"/>
                        </a:solidFill>
                        <a:latin typeface="Bosch Office San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i="1" kern="1200" baseline="0" dirty="0">
                        <a:solidFill>
                          <a:srgbClr val="002060"/>
                        </a:solidFill>
                        <a:latin typeface="Bosch Office Sans"/>
                        <a:ea typeface="+mn-ea"/>
                        <a:cs typeface="+mn-cs"/>
                      </a:endParaRPr>
                    </a:p>
                  </a:txBody>
                  <a:tcPr marL="7200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>
                      <a:lvl1pPr marL="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1pPr>
                      <a:lvl2pPr marL="30841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2pPr>
                      <a:lvl3pPr marL="616819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3pPr>
                      <a:lvl4pPr marL="92522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4pPr>
                      <a:lvl5pPr marL="123363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5pPr>
                      <a:lvl6pPr marL="1542047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6pPr>
                      <a:lvl7pPr marL="1850456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7pPr>
                      <a:lvl8pPr marL="2158865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8pPr>
                      <a:lvl9pPr marL="2467274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9pPr>
                    </a:lstStyle>
                    <a:p>
                      <a:pPr marL="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GB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SimSun" pitchFamily="2" charset="-122"/>
                        <a:cs typeface="Arial" charset="0"/>
                      </a:endParaRPr>
                    </a:p>
                  </a:txBody>
                  <a:tcPr marL="7200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1000" b="1" u="none" kern="1200" dirty="0">
                          <a:solidFill>
                            <a:schemeClr val="tx1"/>
                          </a:solidFill>
                          <a:latin typeface="+mj-lt"/>
                          <a:ea typeface="SimSun" pitchFamily="2" charset="-122"/>
                          <a:cs typeface="Arial" charset="0"/>
                        </a:rPr>
                        <a:t>Corrective Action</a:t>
                      </a:r>
                    </a:p>
                  </a:txBody>
                  <a:tcPr marL="7200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667641"/>
                  </a:ext>
                </a:extLst>
              </a:tr>
              <a:tr h="378444">
                <a:tc gridSpan="2">
                  <a:txBody>
                    <a:bodyPr/>
                    <a:lstStyle>
                      <a:lvl1pPr marL="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1pPr>
                      <a:lvl2pPr marL="30841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2pPr>
                      <a:lvl3pPr marL="616819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3pPr>
                      <a:lvl4pPr marL="92522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4pPr>
                      <a:lvl5pPr marL="123363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5pPr>
                      <a:lvl6pPr marL="1542047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6pPr>
                      <a:lvl7pPr marL="1850456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7pPr>
                      <a:lvl8pPr marL="2158865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8pPr>
                      <a:lvl9pPr marL="2467274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9pPr>
                    </a:lstStyle>
                    <a:p>
                      <a:pPr marL="176213" marR="0" lvl="0" indent="-176213" algn="l" defTabSz="914400" rtl="0" eaLnBrk="1" fontAlgn="base" latinLnBrk="0" hangingPunct="1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SimSun" pitchFamily="2" charset="-122"/>
                          <a:cs typeface="Arial" charset="0"/>
                          <a:sym typeface="Wingdings" pitchFamily="2" charset="2"/>
                        </a:rPr>
                        <a:t>LESSON LEARNED </a:t>
                      </a:r>
                      <a:r>
                        <a:rPr lang="en-GB" sz="800" b="0" i="1" u="none" kern="1200" dirty="0">
                          <a:solidFill>
                            <a:schemeClr val="tx1"/>
                          </a:solidFill>
                          <a:latin typeface="+mj-lt"/>
                          <a:ea typeface="SimSun" pitchFamily="2" charset="-122"/>
                          <a:cs typeface="Arial" charset="0"/>
                          <a:sym typeface="Wingdings" pitchFamily="2" charset="2"/>
                        </a:rPr>
                        <a:t>(quality issue) </a:t>
                      </a:r>
                      <a:r>
                        <a:rPr kumimoji="0" lang="en-GB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SimSun" pitchFamily="2" charset="-122"/>
                          <a:cs typeface="Arial" charset="0"/>
                          <a:sym typeface="Wingdings" pitchFamily="2" charset="2"/>
                        </a:rPr>
                        <a:t>or RECOMMENDATION </a:t>
                      </a:r>
                      <a:r>
                        <a:rPr lang="en-GB" sz="800" b="0" i="1" u="none" kern="1200" dirty="0">
                          <a:solidFill>
                            <a:schemeClr val="tx1"/>
                          </a:solidFill>
                          <a:latin typeface="+mj-lt"/>
                          <a:ea typeface="SimSun" pitchFamily="2" charset="-122"/>
                          <a:cs typeface="Arial" charset="0"/>
                          <a:sym typeface="Wingdings" pitchFamily="2" charset="2"/>
                        </a:rPr>
                        <a:t>(improvement)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AAFB7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1pPr>
                      <a:lvl2pPr marL="308410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2pPr>
                      <a:lvl3pPr marL="616819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3pPr>
                      <a:lvl4pPr marL="92522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4pPr>
                      <a:lvl5pPr marL="1233638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5pPr>
                      <a:lvl6pPr marL="1542047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6pPr>
                      <a:lvl7pPr marL="1850456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7pPr>
                      <a:lvl8pPr marL="2158865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8pPr>
                      <a:lvl9pPr marL="2467274" algn="l" defTabSz="616819" rtl="0" eaLnBrk="1" latinLnBrk="0" hangingPunct="1">
                        <a:defRPr sz="1214" kern="1200">
                          <a:solidFill>
                            <a:schemeClr val="tx1"/>
                          </a:solidFill>
                          <a:latin typeface="Bosch Office Sans"/>
                        </a:defRPr>
                      </a:lvl9pPr>
                    </a:lstStyle>
                    <a:p>
                      <a:pPr marL="176213" marR="0" lvl="0" indent="-176213" algn="l" defTabSz="914400" rtl="0" eaLnBrk="1" fontAlgn="base" latinLnBrk="0" hangingPunct="1">
                        <a:lnSpc>
                          <a:spcPct val="11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GB" sz="105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SimSun" pitchFamily="2" charset="-122"/>
                        <a:cs typeface="Arial" charset="0"/>
                        <a:sym typeface="Wingdings" pitchFamily="2" charset="2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GB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  <a:cs typeface="Arial" charset="0"/>
                          <a:sym typeface="Wingdings" pitchFamily="2" charset="2"/>
                        </a:rPr>
                        <a:t>STANDARDIZATION </a:t>
                      </a:r>
                      <a:r>
                        <a:rPr kumimoji="0" lang="en-GB" sz="8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  <a:cs typeface="Arial" charset="0"/>
                          <a:sym typeface="Wingdings" pitchFamily="2" charset="2"/>
                        </a:rPr>
                        <a:t>(process/tool/pokayoke) </a:t>
                      </a:r>
                      <a:r>
                        <a:rPr kumimoji="0" lang="en-GB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SimSun" pitchFamily="2" charset="-122"/>
                          <a:cs typeface="Arial" charset="0"/>
                          <a:sym typeface="Wingdings" pitchFamily="2" charset="2"/>
                        </a:rPr>
                        <a:t>or</a:t>
                      </a:r>
                      <a:r>
                        <a:rPr lang="en-GB" sz="800" b="0" i="1" u="none" kern="1200" dirty="0">
                          <a:solidFill>
                            <a:schemeClr val="tx1"/>
                          </a:solidFill>
                          <a:latin typeface="+mj-lt"/>
                          <a:ea typeface="SimSun" pitchFamily="2" charset="-122"/>
                          <a:cs typeface="Arial" charset="0"/>
                          <a:sym typeface="Wingdings" pitchFamily="2" charset="2"/>
                        </a:rPr>
                        <a:t> </a:t>
                      </a:r>
                      <a:r>
                        <a:rPr kumimoji="0" lang="en-GB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  <a:cs typeface="Arial" charset="0"/>
                          <a:sym typeface="Wingdings" pitchFamily="2" charset="2"/>
                        </a:rPr>
                        <a:t>VALIDATION</a:t>
                      </a:r>
                      <a:r>
                        <a:rPr kumimoji="0" lang="en-GB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  <a:cs typeface="Arial" charset="0"/>
                          <a:sym typeface="Wingdings" pitchFamily="2" charset="2"/>
                        </a:rPr>
                        <a:t> </a:t>
                      </a:r>
                      <a:r>
                        <a:rPr lang="en-GB" sz="800" b="0" i="1" u="none" kern="1200" dirty="0">
                          <a:solidFill>
                            <a:schemeClr val="tx1"/>
                          </a:solidFill>
                          <a:latin typeface="+mn-lt"/>
                          <a:ea typeface="SimSun" pitchFamily="2" charset="-122"/>
                          <a:cs typeface="Arial" charset="0"/>
                          <a:sym typeface="Wingdings" pitchFamily="2" charset="2"/>
                        </a:rPr>
                        <a:t>(DPPM graph, cost saving graph, etc…) </a:t>
                      </a:r>
                      <a:endParaRPr lang="en-US" sz="800" b="0" i="1" u="none" kern="1200" dirty="0">
                        <a:solidFill>
                          <a:schemeClr val="tx1"/>
                        </a:solidFill>
                        <a:latin typeface="+mj-lt"/>
                        <a:ea typeface="SimSun" pitchFamily="2" charset="-122"/>
                        <a:cs typeface="Arial" charset="0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6467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1200" noProof="0" dirty="0">
                        <a:solidFill>
                          <a:srgbClr val="FF0000"/>
                        </a:solidFill>
                        <a:latin typeface="Bosch Office Sans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200" b="0" kern="1200" noProof="0" dirty="0">
                        <a:solidFill>
                          <a:schemeClr val="accent1"/>
                        </a:solidFill>
                        <a:latin typeface="Bosch Office Sans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200" b="0" kern="1200" noProof="0" dirty="0">
                        <a:solidFill>
                          <a:schemeClr val="accent1"/>
                        </a:solidFill>
                        <a:latin typeface="Bosch Office Sans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200" b="0" kern="1200" noProof="0" dirty="0">
                        <a:solidFill>
                          <a:schemeClr val="accent1"/>
                        </a:solidFill>
                        <a:latin typeface="Bosch Office Sans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1200" noProof="0" dirty="0">
                        <a:solidFill>
                          <a:schemeClr val="accent1"/>
                        </a:solidFill>
                        <a:latin typeface="Bosch Office Sans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1200" noProof="0" dirty="0">
                        <a:solidFill>
                          <a:srgbClr val="00B050"/>
                        </a:solidFill>
                        <a:latin typeface="Bosch Office Sans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7200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AAFB7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200" b="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7200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A5A82"/>
                        </a:buClr>
                        <a:buSzPct val="65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GB" sz="1000" b="0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SimSun" pitchFamily="2" charset="-122"/>
                        <a:cs typeface="Arial" charset="0"/>
                        <a:sym typeface="Wingdings" pitchFamily="2" charset="2"/>
                      </a:endParaRPr>
                    </a:p>
                  </a:txBody>
                  <a:tcPr marL="7200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009879" y="2545872"/>
            <a:ext cx="48194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74269" y="2496709"/>
            <a:ext cx="3032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Background :  Damage Printing in toe cap area  </a:t>
            </a:r>
            <a:endParaRPr lang="en-US" sz="1000" dirty="0">
              <a:solidFill>
                <a:prstClr val="black"/>
              </a:solidFill>
              <a:cs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6563" y="3222516"/>
            <a:ext cx="48194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cs typeface="Calibri" panose="020F0502020204030204" pitchFamily="34" charset="0"/>
              </a:rPr>
              <a:t>Preventive Improvement at Finishing Line process 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000" dirty="0">
                <a:cs typeface="Calibri" panose="020F0502020204030204" pitchFamily="34" charset="0"/>
              </a:rPr>
              <a:t>Make sure finishing is free from MEK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000" dirty="0" err="1">
                <a:cs typeface="Calibri" panose="020F0502020204030204" pitchFamily="34" charset="0"/>
              </a:rPr>
              <a:t>Becareful</a:t>
            </a:r>
            <a:r>
              <a:rPr lang="en-US" sz="1000" dirty="0">
                <a:cs typeface="Calibri" panose="020F0502020204030204" pitchFamily="34" charset="0"/>
              </a:rPr>
              <a:t> When handling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000" dirty="0">
                <a:cs typeface="Calibri" panose="020F0502020204030204" pitchFamily="34" charset="0"/>
              </a:rPr>
              <a:t>Use pure </a:t>
            </a:r>
            <a:r>
              <a:rPr lang="en-US" sz="1000" dirty="0" err="1">
                <a:cs typeface="Calibri" panose="020F0502020204030204" pitchFamily="34" charset="0"/>
              </a:rPr>
              <a:t>checmical</a:t>
            </a:r>
            <a:r>
              <a:rPr lang="en-US" sz="1000" dirty="0">
                <a:cs typeface="Calibri" panose="020F0502020204030204" pitchFamily="34" charset="0"/>
              </a:rPr>
              <a:t> 233 BF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000" dirty="0" err="1">
                <a:cs typeface="Calibri" panose="020F0502020204030204" pitchFamily="34" charset="0"/>
              </a:rPr>
              <a:t>Scractch</a:t>
            </a:r>
            <a:r>
              <a:rPr lang="en-US" sz="1000" dirty="0">
                <a:cs typeface="Calibri" panose="020F0502020204030204" pitchFamily="34" charset="0"/>
              </a:rPr>
              <a:t> don’t use whiteboard marker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000" dirty="0">
                <a:cs typeface="Calibri" panose="020F0502020204030204" pitchFamily="34" charset="0"/>
              </a:rPr>
              <a:t>Chemical Identity must be clear. When not use at finishing area, </a:t>
            </a:r>
          </a:p>
          <a:p>
            <a:r>
              <a:rPr lang="en-US" sz="1000" dirty="0">
                <a:cs typeface="Calibri" panose="020F0502020204030204" pitchFamily="34" charset="0"/>
              </a:rPr>
              <a:t>       Laboratory </a:t>
            </a:r>
            <a:r>
              <a:rPr lang="en-US" sz="1000" dirty="0" err="1">
                <a:cs typeface="Calibri" panose="020F0502020204030204" pitchFamily="34" charset="0"/>
              </a:rPr>
              <a:t>Departement</a:t>
            </a:r>
            <a:r>
              <a:rPr lang="en-US" sz="1000" dirty="0">
                <a:cs typeface="Calibri" panose="020F0502020204030204" pitchFamily="34" charset="0"/>
              </a:rPr>
              <a:t> must to withdraw  the chemical </a:t>
            </a:r>
          </a:p>
          <a:p>
            <a:pPr marL="228600" indent="-228600">
              <a:buFont typeface="+mj-lt"/>
              <a:buAutoNum type="arabicPeriod"/>
            </a:pPr>
            <a:endParaRPr lang="en-US" sz="1000" dirty="0"/>
          </a:p>
          <a:p>
            <a:pPr marL="228600" indent="-228600">
              <a:buFont typeface="+mj-lt"/>
              <a:buAutoNum type="arabicPeriod"/>
            </a:pPr>
            <a:endParaRPr lang="en-US" sz="1000" dirty="0"/>
          </a:p>
          <a:p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3B4ACAF6-7D74-4112-8648-84D437CEA60C}"/>
              </a:ext>
            </a:extLst>
          </p:cNvPr>
          <p:cNvSpPr txBox="1"/>
          <p:nvPr/>
        </p:nvSpPr>
        <p:spPr bwMode="auto">
          <a:xfrm>
            <a:off x="214312" y="4501219"/>
            <a:ext cx="5453010" cy="1016655"/>
          </a:xfrm>
          <a:prstGeom prst="rect">
            <a:avLst/>
          </a:prstGeom>
          <a:noFill/>
        </p:spPr>
        <p:txBody>
          <a:bodyPr vert="horz" wrap="square" lIns="91417" tIns="45709" rIns="91417" bIns="45709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Digital Printing</a:t>
            </a:r>
            <a:r>
              <a:rPr lang="en-US" dirty="0"/>
              <a:t> 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3AB5717E-8364-42D6-B29B-93DA6F3CDC55}"/>
              </a:ext>
            </a:extLst>
          </p:cNvPr>
          <p:cNvSpPr txBox="1"/>
          <p:nvPr/>
        </p:nvSpPr>
        <p:spPr bwMode="auto">
          <a:xfrm>
            <a:off x="5889158" y="4622909"/>
            <a:ext cx="6051288" cy="1445920"/>
          </a:xfrm>
          <a:prstGeom prst="rect">
            <a:avLst/>
          </a:prstGeom>
          <a:noFill/>
        </p:spPr>
        <p:txBody>
          <a:bodyPr vert="horz" wrap="square" lIns="91417" tIns="45709" rIns="91417" bIns="45709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/>
          </a:p>
          <a:p>
            <a:r>
              <a:rPr lang="en-US" sz="1400" b="1" dirty="0"/>
              <a:t>Standardization :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Temperature machine doubling = 1-2 (45-50C), 3-4 (40-45C), 5-6 (50-55C)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Thickness STD 1.35-1.4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Speed Ave (20-30 RPM)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Mixing compound rubber = 75% Original : 25% Scrap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Improve Quality standard for bubble/pitting/pin hole from 2mm to be 0mm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QC check 100% toe cap area, keep to ensure no issue damage printing </a:t>
            </a:r>
            <a:endParaRPr lang="en-US" sz="10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069BBB-97D5-AC2B-102C-76BEE1B399D9}"/>
              </a:ext>
            </a:extLst>
          </p:cNvPr>
          <p:cNvSpPr/>
          <p:nvPr/>
        </p:nvSpPr>
        <p:spPr>
          <a:xfrm>
            <a:off x="2578100" y="1582514"/>
            <a:ext cx="203200" cy="203200"/>
          </a:xfrm>
          <a:prstGeom prst="ellipse">
            <a:avLst/>
          </a:prstGeom>
          <a:noFill/>
          <a:ln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4951CC-4668-49AA-14A5-6FD421F84F95}"/>
              </a:ext>
            </a:extLst>
          </p:cNvPr>
          <p:cNvSpPr txBox="1"/>
          <p:nvPr/>
        </p:nvSpPr>
        <p:spPr>
          <a:xfrm>
            <a:off x="974269" y="2619355"/>
            <a:ext cx="26673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  <a:cs typeface="Calibri" panose="020F0502020204030204" pitchFamily="34" charset="0"/>
              </a:rPr>
              <a:t>Process Repair (Finishing) :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prstClr val="black"/>
                </a:solidFill>
                <a:cs typeface="Calibri" panose="020F0502020204030204" pitchFamily="34" charset="0"/>
              </a:rPr>
              <a:t>Cleaning </a:t>
            </a:r>
            <a:r>
              <a:rPr lang="en-US" sz="1000" dirty="0" err="1">
                <a:solidFill>
                  <a:prstClr val="black"/>
                </a:solidFill>
                <a:cs typeface="Calibri" panose="020F0502020204030204" pitchFamily="34" charset="0"/>
              </a:rPr>
              <a:t>Proces</a:t>
            </a:r>
            <a:r>
              <a:rPr lang="en-US" sz="1000" dirty="0">
                <a:solidFill>
                  <a:prstClr val="black"/>
                </a:solidFill>
                <a:cs typeface="Calibri" panose="020F0502020204030204" pitchFamily="34" charset="0"/>
              </a:rPr>
              <a:t>  use Xylene/MEK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prstClr val="black"/>
                </a:solidFill>
                <a:cs typeface="Calibri" panose="020F0502020204030204" pitchFamily="34" charset="0"/>
              </a:rPr>
              <a:t>Contamination glue on Printing </a:t>
            </a:r>
          </a:p>
          <a:p>
            <a:r>
              <a:rPr lang="en-US" sz="1000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C7678DE0-8740-9E6F-9085-A54B2686DC48}"/>
              </a:ext>
            </a:extLst>
          </p:cNvPr>
          <p:cNvSpPr txBox="1"/>
          <p:nvPr/>
        </p:nvSpPr>
        <p:spPr bwMode="auto">
          <a:xfrm>
            <a:off x="236590" y="5363737"/>
            <a:ext cx="5453010" cy="1016655"/>
          </a:xfrm>
          <a:prstGeom prst="rect">
            <a:avLst/>
          </a:prstGeom>
          <a:noFill/>
        </p:spPr>
        <p:txBody>
          <a:bodyPr vert="horz" wrap="square" lIns="91417" tIns="45709" rIns="91417" bIns="45709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Assembling &amp; Finishing (Recommendation to Improvement): </a:t>
            </a:r>
          </a:p>
          <a:p>
            <a:pPr marL="228600" indent="-228600">
              <a:buAutoNum type="arabicPeriod"/>
            </a:pPr>
            <a:r>
              <a:rPr lang="en-US" dirty="0"/>
              <a:t>Repair Handling, Flow Chart &amp; PIC Repair must direct to Line &amp; Check QC</a:t>
            </a:r>
          </a:p>
          <a:p>
            <a:pPr marL="228600" indent="-228600">
              <a:buAutoNum type="arabicPeriod"/>
            </a:pPr>
            <a:r>
              <a:rPr lang="en-US" dirty="0"/>
              <a:t>Repair Cleaning -&gt; Drying -&gt; Direct to finishing Line (Don’t pack right away)</a:t>
            </a:r>
          </a:p>
          <a:p>
            <a:pPr marL="228600" indent="-228600">
              <a:buAutoNum type="arabicPeriod"/>
            </a:pPr>
            <a:r>
              <a:rPr lang="en-US" dirty="0"/>
              <a:t>Closing PO</a:t>
            </a:r>
          </a:p>
          <a:p>
            <a:pPr marL="228600" indent="-228600">
              <a:buAutoNum type="arabicPeriod"/>
            </a:pPr>
            <a:r>
              <a:rPr lang="en-US" dirty="0"/>
              <a:t>Re-training &amp; Make clear checkpoint quality inspection in QC finishing line with visual and standardization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49E4BE-953A-F4A7-058D-565A1E22DA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775" r="12615"/>
          <a:stretch/>
        </p:blipFill>
        <p:spPr>
          <a:xfrm>
            <a:off x="10524657" y="5143952"/>
            <a:ext cx="1475646" cy="11125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Arrow: Bent 9">
            <a:extLst>
              <a:ext uri="{FF2B5EF4-FFF2-40B4-BE49-F238E27FC236}">
                <a16:creationId xmlns:a16="http://schemas.microsoft.com/office/drawing/2014/main" id="{3575E841-1A66-5F1D-C9B5-1B3BB8A3CD17}"/>
              </a:ext>
            </a:extLst>
          </p:cNvPr>
          <p:cNvSpPr/>
          <p:nvPr/>
        </p:nvSpPr>
        <p:spPr>
          <a:xfrm flipV="1">
            <a:off x="6299200" y="6068829"/>
            <a:ext cx="969771" cy="416638"/>
          </a:xfrm>
          <a:prstGeom prst="ben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C27BC52F-7850-21D7-FAFA-BF163960E821}"/>
              </a:ext>
            </a:extLst>
          </p:cNvPr>
          <p:cNvSpPr txBox="1"/>
          <p:nvPr/>
        </p:nvSpPr>
        <p:spPr bwMode="auto">
          <a:xfrm>
            <a:off x="7369082" y="6102934"/>
            <a:ext cx="3993185" cy="499314"/>
          </a:xfrm>
          <a:prstGeom prst="rect">
            <a:avLst/>
          </a:prstGeom>
          <a:noFill/>
        </p:spPr>
        <p:txBody>
          <a:bodyPr vert="horz" wrap="square" lIns="91417" tIns="45709" rIns="91417" bIns="45709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</a:rPr>
              <a:t>Under control QC Auditor keep to ensure process follow SOP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8092E05-1504-1C8D-999C-E0BD77170C43}"/>
              </a:ext>
            </a:extLst>
          </p:cNvPr>
          <p:cNvSpPr/>
          <p:nvPr/>
        </p:nvSpPr>
        <p:spPr>
          <a:xfrm>
            <a:off x="7267482" y="3359462"/>
            <a:ext cx="203200" cy="203200"/>
          </a:xfrm>
          <a:prstGeom prst="ellipse">
            <a:avLst/>
          </a:prstGeom>
          <a:noFill/>
          <a:ln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1A9344-3736-5FA7-D9F2-3E6CAA4C3515}"/>
              </a:ext>
            </a:extLst>
          </p:cNvPr>
          <p:cNvSpPr/>
          <p:nvPr/>
        </p:nvSpPr>
        <p:spPr>
          <a:xfrm>
            <a:off x="6060854" y="810909"/>
            <a:ext cx="2310030" cy="3590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Before </a:t>
            </a:r>
            <a:endParaRPr lang="en-ID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91876B-9E10-9472-8D41-148D4B103A18}"/>
              </a:ext>
            </a:extLst>
          </p:cNvPr>
          <p:cNvSpPr/>
          <p:nvPr/>
        </p:nvSpPr>
        <p:spPr>
          <a:xfrm>
            <a:off x="9473629" y="810909"/>
            <a:ext cx="2310030" cy="3590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Improvement </a:t>
            </a:r>
            <a:endParaRPr lang="en-ID" b="1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86D855A-AC11-64DB-D0F3-4BAB2218772C}"/>
              </a:ext>
            </a:extLst>
          </p:cNvPr>
          <p:cNvSpPr/>
          <p:nvPr/>
        </p:nvSpPr>
        <p:spPr>
          <a:xfrm>
            <a:off x="8569423" y="2190858"/>
            <a:ext cx="731520" cy="710028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D8806C-D9E0-737A-B92F-DC6388D5AE93}"/>
              </a:ext>
            </a:extLst>
          </p:cNvPr>
          <p:cNvSpPr/>
          <p:nvPr/>
        </p:nvSpPr>
        <p:spPr>
          <a:xfrm>
            <a:off x="10554585" y="4820098"/>
            <a:ext cx="1415789" cy="3123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STD from Rocky</a:t>
            </a:r>
            <a:endParaRPr lang="en-ID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82"/>
          <a:stretch/>
        </p:blipFill>
        <p:spPr>
          <a:xfrm>
            <a:off x="1892582" y="825859"/>
            <a:ext cx="1188408" cy="15911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714294" y="1608841"/>
            <a:ext cx="3026386" cy="22697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115452" y="1608842"/>
            <a:ext cx="3026386" cy="226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590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28"/>
  <p:tag name="FONTSETCLASSNAME" val="FontSet1"/>
  <p:tag name="FONTCOLOR" val="Black"/>
  <p:tag name="FONTCOLOR2" val="Primary"/>
  <p:tag name="RUNS.FONT" val="2"/>
  <p:tag name="COLORSETCLASSNAME" val="ColorSet2"/>
  <p:tag name="MLI" val="1"/>
  <p:tag name="SHAPESETGROUPCLASSNAME" val="ShapeSetGroup1"/>
  <p:tag name="SHAPESETCLASSNAME" val="Object"/>
  <p:tag name="COLORSETGROUPCLASSNAME" val="ColorSetGroup3"/>
  <p:tag name="FONTSETGROUPCLASSNAME" val="FontSetGroup1"/>
  <p:tag name="SHAPECLASSNAME" val="TitleOnSlidesPredefined"/>
  <p:tag name="SHAPECLASSPROTECTIONTYPE" val="0"/>
  <p:tag name="COLORS" val="-2;-2;-2;-2;-1;-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1;-1;-1;White;-1;-2"/>
  <p:tag name="COLORSETCLASSNAME" val="ColorSet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2191</TotalTime>
  <Words>286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Bosch Office Sans</vt:lpstr>
      <vt:lpstr>Calibri</vt:lpstr>
      <vt:lpstr>Calibri Light</vt:lpstr>
      <vt:lpstr>Wingdings</vt:lpstr>
      <vt:lpstr>Office Theme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Vu Tran Dzuy (PS/QMM3.1.1-HcP)</dc:creator>
  <cp:lastModifiedBy>Faisal</cp:lastModifiedBy>
  <cp:revision>146</cp:revision>
  <cp:lastPrinted>2018-12-03T06:13:59Z</cp:lastPrinted>
  <dcterms:created xsi:type="dcterms:W3CDTF">2018-10-04T02:36:23Z</dcterms:created>
  <dcterms:modified xsi:type="dcterms:W3CDTF">2023-01-04T23:13:55Z</dcterms:modified>
</cp:coreProperties>
</file>